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731520" y="1097280"/>
            <a:ext cx="2011680" cy="365760"/>
          </a:xfrm>
          <a:prstGeom prst="roundRect">
            <a:avLst/>
          </a:prstGeom>
          <a:solidFill>
            <a:srgbClr val="2563E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2011680" cy="365760"/>
          </a:xfrm>
          <a:prstGeom prst="rect">
            <a:avLst/>
          </a:prstGeom>
          <a:noFill/>
        </p:spPr>
        <p:txBody>
          <a:bodyPr wrap="none">
            <a:spAutoFit/>
          </a:bodyPr>
          <a:lstStyle/>
          <a:p>
            <a:pPr algn="ctr">
              <a:defRPr sz="1000" b="1">
                <a:solidFill>
                  <a:srgbClr val="FFFFFF"/>
                </a:solidFill>
              </a:defRPr>
            </a:pPr>
            <a:r>
              <a:t>ENTERPRISE PLATFORM</a:t>
            </a:r>
          </a:p>
        </p:txBody>
      </p:sp>
      <p:sp>
        <p:nvSpPr>
          <p:cNvPr id="4" name="TextBox 3"/>
          <p:cNvSpPr txBox="1"/>
          <p:nvPr/>
        </p:nvSpPr>
        <p:spPr>
          <a:xfrm>
            <a:off x="731520" y="1645920"/>
            <a:ext cx="10698480" cy="1371600"/>
          </a:xfrm>
          <a:prstGeom prst="rect">
            <a:avLst/>
          </a:prstGeom>
          <a:noFill/>
        </p:spPr>
        <p:txBody>
          <a:bodyPr wrap="none">
            <a:spAutoFit/>
          </a:bodyPr>
          <a:lstStyle/>
          <a:p>
            <a:pPr>
              <a:defRPr sz="4400" b="1">
                <a:solidFill>
                  <a:srgbClr val="FFFFFF"/>
                </a:solidFill>
              </a:defRPr>
            </a:pPr>
            <a:r>
              <a:t>PiOne Testmate</a:t>
            </a:r>
          </a:p>
          <a:p>
            <a:pPr>
              <a:spcBef>
                <a:spcPts val="800"/>
              </a:spcBef>
              <a:defRPr sz="2000">
                <a:solidFill>
                  <a:srgbClr val="06B6D4"/>
                </a:solidFill>
              </a:defRPr>
            </a:pPr>
            <a:r>
              <a:t>Autonomous Enterprise Web QA &amp; Low-Impact DAST Security Platform</a:t>
            </a:r>
          </a:p>
        </p:txBody>
      </p:sp>
      <p:sp>
        <p:nvSpPr>
          <p:cNvPr id="5" name="Rounded Rectangle 4"/>
          <p:cNvSpPr/>
          <p:nvPr/>
        </p:nvSpPr>
        <p:spPr>
          <a:xfrm>
            <a:off x="731520" y="3474720"/>
            <a:ext cx="3291840" cy="2560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657600"/>
            <a:ext cx="2926080" cy="2194560"/>
          </a:xfrm>
          <a:prstGeom prst="rect">
            <a:avLst/>
          </a:prstGeom>
          <a:noFill/>
        </p:spPr>
        <p:txBody>
          <a:bodyPr wrap="square">
            <a:spAutoFit/>
          </a:bodyPr>
          <a:lstStyle/>
          <a:p>
            <a:pPr>
              <a:defRPr sz="1600" b="1">
                <a:solidFill>
                  <a:srgbClr val="06B6D4"/>
                </a:solidFill>
              </a:defRPr>
            </a:pPr>
            <a:r>
              <a:t>⚡ Zero-Script Setup</a:t>
            </a:r>
          </a:p>
          <a:p>
            <a:pPr>
              <a:spcBef>
                <a:spcPts val="800"/>
              </a:spcBef>
              <a:defRPr sz="1100">
                <a:solidFill>
                  <a:srgbClr val="CBD5E1"/>
                </a:solidFill>
              </a:defRPr>
            </a:pPr>
            <a:r>
              <a:t>Autonomous SPA &amp; SSR route discovery without writing fragile manual selector scripts. Cut test authoring cycles from weeks to minutes.</a:t>
            </a:r>
          </a:p>
        </p:txBody>
      </p:sp>
      <p:sp>
        <p:nvSpPr>
          <p:cNvPr id="7" name="Rounded Rectangle 6"/>
          <p:cNvSpPr/>
          <p:nvPr/>
        </p:nvSpPr>
        <p:spPr>
          <a:xfrm>
            <a:off x="4389120" y="3474720"/>
            <a:ext cx="3291840" cy="2560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3657600"/>
            <a:ext cx="2926080" cy="2194560"/>
          </a:xfrm>
          <a:prstGeom prst="rect">
            <a:avLst/>
          </a:prstGeom>
          <a:noFill/>
        </p:spPr>
        <p:txBody>
          <a:bodyPr wrap="square">
            <a:spAutoFit/>
          </a:bodyPr>
          <a:lstStyle/>
          <a:p>
            <a:pPr>
              <a:defRPr sz="1600" b="1">
                <a:solidFill>
                  <a:srgbClr val="10B981"/>
                </a:solidFill>
              </a:defRPr>
            </a:pPr>
            <a:r>
              <a:t>🛡️ Production-Safe DAST</a:t>
            </a:r>
          </a:p>
          <a:p>
            <a:pPr>
              <a:spcBef>
                <a:spcPts val="800"/>
              </a:spcBef>
              <a:defRPr sz="1100">
                <a:solidFill>
                  <a:srgbClr val="CBD5E1"/>
                </a:solidFill>
              </a:defRPr>
            </a:pPr>
            <a:r>
              <a:t>Passive OWASP Top 10 security auditing across discovered routes. Detects CSP, HSTS, cookie flag, and unauth access flaws without destructive payloads.</a:t>
            </a:r>
          </a:p>
        </p:txBody>
      </p:sp>
      <p:sp>
        <p:nvSpPr>
          <p:cNvPr id="9" name="Rounded Rectangle 8"/>
          <p:cNvSpPr/>
          <p:nvPr/>
        </p:nvSpPr>
        <p:spPr>
          <a:xfrm>
            <a:off x="8046720" y="3474720"/>
            <a:ext cx="3291840" cy="2560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657600"/>
            <a:ext cx="2926080" cy="2194560"/>
          </a:xfrm>
          <a:prstGeom prst="rect">
            <a:avLst/>
          </a:prstGeom>
          <a:noFill/>
        </p:spPr>
        <p:txBody>
          <a:bodyPr wrap="square">
            <a:spAutoFit/>
          </a:bodyPr>
          <a:lstStyle/>
          <a:p>
            <a:pPr>
              <a:defRPr sz="1600" b="1">
                <a:solidFill>
                  <a:srgbClr val="8B5CF6"/>
                </a:solidFill>
              </a:defRPr>
            </a:pPr>
            <a:r>
              <a:t>🎯 Enterprise Resilience</a:t>
            </a:r>
          </a:p>
          <a:p>
            <a:pPr>
              <a:spcBef>
                <a:spcPts val="800"/>
              </a:spcBef>
              <a:defRPr sz="1100">
                <a:solidFill>
                  <a:srgbClr val="CBD5E1"/>
                </a:solidFill>
              </a:defRPr>
            </a:pPr>
            <a:r>
              <a:t>SQLite / PostgreSQL relational persistence, safe checkpoint resume, visual regression baselines, and multi-provider AI model freedom.</a:t>
            </a:r>
          </a:p>
        </p:txBody>
      </p:sp>
      <p:sp>
        <p:nvSpPr>
          <p:cNvPr id="11" name="TextBox 10"/>
          <p:cNvSpPr txBox="1"/>
          <p:nvPr/>
        </p:nvSpPr>
        <p:spPr>
          <a:xfrm>
            <a:off x="731520" y="6217920"/>
            <a:ext cx="10698480" cy="365760"/>
          </a:xfrm>
          <a:prstGeom prst="rect">
            <a:avLst/>
          </a:prstGeom>
          <a:noFill/>
        </p:spPr>
        <p:txBody>
          <a:bodyPr wrap="none">
            <a:spAutoFit/>
          </a:bodyPr>
          <a:lstStyle/>
          <a:p>
            <a:pPr>
              <a:defRPr sz="900">
                <a:solidFill>
                  <a:srgbClr val="64748B"/>
                </a:solidFill>
              </a:defRPr>
            </a:pPr>
            <a:r>
              <a:t>CONFIDENTIAL &amp; PROPRIETARY — PIONE TECHNOLOGIES LLP — PLATFORM RELEASE V2.1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563EB"/>
                </a:solidFill>
              </a:defRPr>
            </a:pPr>
            <a:r>
              <a:t>MARKET ANALYSIS &amp; PROBLEM STATEMENT</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defRPr>
            </a:pPr>
            <a:r>
              <a:t>The Enterprise Web QA Dilemma</a:t>
            </a:r>
          </a:p>
        </p:txBody>
      </p:sp>
      <p:sp>
        <p:nvSpPr>
          <p:cNvPr id="4" name="Rounded Rectangle 3"/>
          <p:cNvSpPr/>
          <p:nvPr/>
        </p:nvSpPr>
        <p:spPr>
          <a:xfrm>
            <a:off x="731520" y="1371600"/>
            <a:ext cx="3291840" cy="4937760"/>
          </a:xfrm>
          <a:prstGeom prst="roundRect">
            <a:avLst/>
          </a:prstGeom>
          <a:solidFill>
            <a:srgbClr val="FFFFFF"/>
          </a:solidFill>
          <a:ln w="1905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2926080" cy="4389120"/>
          </a:xfrm>
          <a:prstGeom prst="rect">
            <a:avLst/>
          </a:prstGeom>
          <a:noFill/>
        </p:spPr>
        <p:txBody>
          <a:bodyPr wrap="square">
            <a:spAutoFit/>
          </a:bodyPr>
          <a:lstStyle/>
          <a:p>
            <a:pPr>
              <a:defRPr sz="1600" b="1">
                <a:solidFill>
                  <a:srgbClr val="DC2626"/>
                </a:solidFill>
              </a:defRPr>
            </a:pPr>
            <a:r>
              <a:t>⏳ Fragile Script Maintenance</a:t>
            </a:r>
          </a:p>
          <a:p>
            <a:pPr>
              <a:spcBef>
                <a:spcPts val="800"/>
              </a:spcBef>
              <a:defRPr sz="1050">
                <a:solidFill>
                  <a:srgbClr val="1E293B"/>
                </a:solidFill>
              </a:defRPr>
            </a:pPr>
            <a:r>
              <a:t>✖ Teams spend 40% to 60% of test engineering sprints repairing broken XPath and CSS locators.</a:t>
            </a:r>
          </a:p>
          <a:p>
            <a:pPr>
              <a:spcBef>
                <a:spcPts val="800"/>
              </a:spcBef>
              <a:defRPr sz="1050">
                <a:solidFill>
                  <a:srgbClr val="1E293B"/>
                </a:solidFill>
              </a:defRPr>
            </a:pPr>
            <a:r>
              <a:t>✖ Minor UI redesigns silently break test suites, leading to release delays and QA friction.</a:t>
            </a:r>
          </a:p>
          <a:p>
            <a:pPr>
              <a:spcBef>
                <a:spcPts val="800"/>
              </a:spcBef>
              <a:defRPr sz="1050">
                <a:solidFill>
                  <a:srgbClr val="1E293B"/>
                </a:solidFill>
              </a:defRPr>
            </a:pPr>
            <a:r>
              <a:t>✖ High barrier to entry: requires dedicated automation engineers to maintain large repositories.</a:t>
            </a:r>
          </a:p>
          <a:p>
            <a:pPr>
              <a:spcBef>
                <a:spcPts val="800"/>
              </a:spcBef>
              <a:defRPr sz="1050">
                <a:solidFill>
                  <a:srgbClr val="1E293B"/>
                </a:solidFill>
              </a:defRPr>
            </a:pPr>
            <a:r>
              <a:t>✖ Result: Test coverage stagnates while applications rapidly evolve.</a:t>
            </a:r>
          </a:p>
        </p:txBody>
      </p:sp>
      <p:sp>
        <p:nvSpPr>
          <p:cNvPr id="6" name="Rounded Rectangle 5"/>
          <p:cNvSpPr/>
          <p:nvPr/>
        </p:nvSpPr>
        <p:spPr>
          <a:xfrm>
            <a:off x="4389120" y="1371600"/>
            <a:ext cx="3291840" cy="4937760"/>
          </a:xfrm>
          <a:prstGeom prst="roundRect">
            <a:avLst/>
          </a:prstGeom>
          <a:solidFill>
            <a:srgbClr val="FFFFFF"/>
          </a:solidFill>
          <a:ln w="19050">
            <a:solidFill>
              <a:srgbClr val="FEF3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645920"/>
            <a:ext cx="2926080" cy="4389120"/>
          </a:xfrm>
          <a:prstGeom prst="rect">
            <a:avLst/>
          </a:prstGeom>
          <a:noFill/>
        </p:spPr>
        <p:txBody>
          <a:bodyPr wrap="square">
            <a:spAutoFit/>
          </a:bodyPr>
          <a:lstStyle/>
          <a:p>
            <a:pPr>
              <a:defRPr sz="1600" b="1">
                <a:solidFill>
                  <a:srgbClr val="F59E0B"/>
                </a:solidFill>
              </a:defRPr>
            </a:pPr>
            <a:r>
              <a:t>💣 Destructive Autonomous Bots</a:t>
            </a:r>
          </a:p>
          <a:p>
            <a:pPr>
              <a:spcBef>
                <a:spcPts val="800"/>
              </a:spcBef>
              <a:defRPr sz="1050">
                <a:solidFill>
                  <a:srgbClr val="1E293B"/>
                </a:solidFill>
              </a:defRPr>
            </a:pPr>
            <a:r>
              <a:t>✖ Unbounded AI agents inadvertently click delete buttons, cancel accounts, or submit orders.</a:t>
            </a:r>
          </a:p>
          <a:p>
            <a:pPr>
              <a:spcBef>
                <a:spcPts val="800"/>
              </a:spcBef>
              <a:defRPr sz="1050">
                <a:solidFill>
                  <a:srgbClr val="1E293B"/>
                </a:solidFill>
              </a:defRPr>
            </a:pPr>
            <a:r>
              <a:t>✖ Black-box crawlers execute arbitrary external links, leading to SSRF and security alerts.</a:t>
            </a:r>
          </a:p>
          <a:p>
            <a:pPr>
              <a:spcBef>
                <a:spcPts val="800"/>
              </a:spcBef>
              <a:defRPr sz="1050">
                <a:solidFill>
                  <a:srgbClr val="1E293B"/>
                </a:solidFill>
              </a:defRPr>
            </a:pPr>
            <a:r>
              <a:t>✖ Non-deterministic execution: LLM hallucinations generate tests for elements that don't exist.</a:t>
            </a:r>
          </a:p>
          <a:p>
            <a:pPr>
              <a:spcBef>
                <a:spcPts val="800"/>
              </a:spcBef>
              <a:defRPr sz="1050">
                <a:solidFill>
                  <a:srgbClr val="1E293B"/>
                </a:solidFill>
              </a:defRPr>
            </a:pPr>
            <a:r>
              <a:t>✖ Result: Enterprise security teams ban autonomous AI tools from staging and production.</a:t>
            </a:r>
          </a:p>
        </p:txBody>
      </p:sp>
      <p:sp>
        <p:nvSpPr>
          <p:cNvPr id="8" name="Rounded Rectangle 7"/>
          <p:cNvSpPr/>
          <p:nvPr/>
        </p:nvSpPr>
        <p:spPr>
          <a:xfrm>
            <a:off x="8046720" y="1371600"/>
            <a:ext cx="3291840" cy="4937760"/>
          </a:xfrm>
          <a:prstGeom prst="roundRect">
            <a:avLst/>
          </a:prstGeom>
          <a:solidFill>
            <a:srgbClr val="FFFFFF"/>
          </a:solidFill>
          <a:ln w="1905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645920"/>
            <a:ext cx="2926080" cy="4389120"/>
          </a:xfrm>
          <a:prstGeom prst="rect">
            <a:avLst/>
          </a:prstGeom>
          <a:noFill/>
        </p:spPr>
        <p:txBody>
          <a:bodyPr wrap="square">
            <a:spAutoFit/>
          </a:bodyPr>
          <a:lstStyle/>
          <a:p>
            <a:pPr>
              <a:defRPr sz="1600" b="1">
                <a:solidFill>
                  <a:srgbClr val="10B981"/>
                </a:solidFill>
              </a:defRPr>
            </a:pPr>
            <a:r>
              <a:t>🚀 The PiOne Testmate Solution</a:t>
            </a:r>
          </a:p>
          <a:p>
            <a:pPr>
              <a:spcBef>
                <a:spcPts val="800"/>
              </a:spcBef>
              <a:defRPr sz="1050">
                <a:solidFill>
                  <a:srgbClr val="1E293B"/>
                </a:solidFill>
              </a:defRPr>
            </a:pPr>
            <a:r>
              <a:t>✔ Deterministic Playwright Scanner First: The browser is strictly driven by deterministic code.</a:t>
            </a:r>
          </a:p>
          <a:p>
            <a:pPr>
              <a:spcBef>
                <a:spcPts val="800"/>
              </a:spcBef>
              <a:defRPr sz="1050">
                <a:solidFill>
                  <a:srgbClr val="1E293B"/>
                </a:solidFill>
              </a:defRPr>
            </a:pPr>
            <a:r>
              <a:t>✔ Grounded AI Second: LLMs only generate tests bounded to elements in the discovered DOM registry.</a:t>
            </a:r>
          </a:p>
          <a:p>
            <a:pPr>
              <a:spcBef>
                <a:spcPts val="800"/>
              </a:spcBef>
              <a:defRPr sz="1050">
                <a:solidFill>
                  <a:srgbClr val="1E293B"/>
                </a:solidFill>
              </a:defRPr>
            </a:pPr>
            <a:r>
              <a:t>✔ Safety Parking Lot: Destructive actions quarantined for explicit human operator confirmation.</a:t>
            </a:r>
          </a:p>
          <a:p>
            <a:pPr>
              <a:spcBef>
                <a:spcPts val="800"/>
              </a:spcBef>
              <a:defRPr sz="1050">
                <a:solidFill>
                  <a:srgbClr val="1E293B"/>
                </a:solidFill>
              </a:defRPr>
            </a:pPr>
            <a:r>
              <a:t>✔ Zero Lock-in: Emits pure standard pytest code with full relational checkpoint persistence.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563EB"/>
                </a:solidFill>
              </a:defRPr>
            </a:pPr>
            <a:r>
              <a:t>SYSTEM ARCHITECTURE &amp; DESIGN PRINCIPLES</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defRPr>
            </a:pPr>
            <a:r>
              <a:t>Core Philosophy &amp; Enterprise Value Pillars</a:t>
            </a:r>
          </a:p>
        </p:txBody>
      </p:sp>
      <p:sp>
        <p:nvSpPr>
          <p:cNvPr id="4" name="Rounded Rectangle 3"/>
          <p:cNvSpPr/>
          <p:nvPr/>
        </p:nvSpPr>
        <p:spPr>
          <a:xfrm>
            <a:off x="731520" y="1371600"/>
            <a:ext cx="10698480" cy="1005840"/>
          </a:xfrm>
          <a:prstGeom prst="roundRect">
            <a:avLst/>
          </a:prstGeom>
          <a:solidFill>
            <a:srgbClr val="0F172A"/>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10332720" cy="822960"/>
          </a:xfrm>
          <a:prstGeom prst="rect">
            <a:avLst/>
          </a:prstGeom>
          <a:noFill/>
        </p:spPr>
        <p:txBody>
          <a:bodyPr wrap="square">
            <a:spAutoFit/>
          </a:bodyPr>
          <a:lstStyle/>
          <a:p>
            <a:pPr>
              <a:defRPr sz="1200" b="1">
                <a:solidFill>
                  <a:srgbClr val="06B6D4"/>
                </a:solidFill>
              </a:defRPr>
            </a:pPr>
            <a:r>
              <a:t>GUIDING PRINCIPLE: DETERMINISTIC SCANNER FIRST, GROUNDED AI INTELLIGENCE SECOND</a:t>
            </a:r>
          </a:p>
          <a:p>
            <a:pPr>
              <a:spcBef>
                <a:spcPts val="400"/>
              </a:spcBef>
              <a:defRPr sz="1050">
                <a:solidFill>
                  <a:srgbClr val="E2E8F0"/>
                </a:solidFill>
              </a:defRPr>
            </a:pPr>
            <a:r>
              <a:t>Playwright deterministically owns browser exploration, DOM extraction, and execution. Artificial Intelligence models (Gemini, Claude, GPT, Ollama) are strictly restricted to synthesizing structured test scenarios from registered elements. AI never directly touches the browser.</a:t>
            </a:r>
          </a:p>
        </p:txBody>
      </p:sp>
      <p:sp>
        <p:nvSpPr>
          <p:cNvPr id="6" name="Rounded Rectangle 5"/>
          <p:cNvSpPr/>
          <p:nvPr/>
        </p:nvSpPr>
        <p:spPr>
          <a:xfrm>
            <a:off x="731520" y="2560320"/>
            <a:ext cx="2523744" cy="3749039"/>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743200"/>
            <a:ext cx="2249424" cy="3383280"/>
          </a:xfrm>
          <a:prstGeom prst="rect">
            <a:avLst/>
          </a:prstGeom>
          <a:noFill/>
        </p:spPr>
        <p:txBody>
          <a:bodyPr wrap="square">
            <a:spAutoFit/>
          </a:bodyPr>
          <a:lstStyle/>
          <a:p>
            <a:pPr>
              <a:defRPr sz="1400" b="1">
                <a:solidFill>
                  <a:srgbClr val="2563EB"/>
                </a:solidFill>
              </a:defRPr>
            </a:pPr>
            <a:r>
              <a:t>🛡️ SSRF Guardrails</a:t>
            </a:r>
          </a:p>
          <a:p>
            <a:pPr>
              <a:spcBef>
                <a:spcPts val="800"/>
              </a:spcBef>
              <a:defRPr sz="1050">
                <a:solidFill>
                  <a:srgbClr val="1E293B"/>
                </a:solidFill>
              </a:defRPr>
            </a:pPr>
            <a:r>
              <a:t>Target origin allowlisting and strict network blocking of private IP ranges (10.0.0.0/8, 127.0.0.1, 169.254.169.254).</a:t>
            </a:r>
          </a:p>
        </p:txBody>
      </p:sp>
      <p:sp>
        <p:nvSpPr>
          <p:cNvPr id="8" name="Rounded Rectangle 7"/>
          <p:cNvSpPr/>
          <p:nvPr/>
        </p:nvSpPr>
        <p:spPr>
          <a:xfrm>
            <a:off x="3456432" y="2560320"/>
            <a:ext cx="2523744" cy="3749039"/>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93592" y="2743200"/>
            <a:ext cx="2249424" cy="3383280"/>
          </a:xfrm>
          <a:prstGeom prst="rect">
            <a:avLst/>
          </a:prstGeom>
          <a:noFill/>
        </p:spPr>
        <p:txBody>
          <a:bodyPr wrap="square">
            <a:spAutoFit/>
          </a:bodyPr>
          <a:lstStyle/>
          <a:p>
            <a:pPr>
              <a:defRPr sz="1400" b="1">
                <a:solidFill>
                  <a:srgbClr val="06B6D4"/>
                </a:solidFill>
              </a:defRPr>
            </a:pPr>
            <a:r>
              <a:t>🎯 12-Attr Fingerprint</a:t>
            </a:r>
          </a:p>
          <a:p>
            <a:pPr>
              <a:spcBef>
                <a:spcPts val="800"/>
              </a:spcBef>
              <a:defRPr sz="1050">
                <a:solidFill>
                  <a:srgbClr val="1E293B"/>
                </a:solidFill>
              </a:defRPr>
            </a:pPr>
            <a:r>
              <a:t>Multi-attribute selector scoring (Role &gt; ARIA &gt; ID &gt; Text &gt; CSS &gt; XPath) guaranteeing self-healing locator resilience.</a:t>
            </a:r>
          </a:p>
        </p:txBody>
      </p:sp>
      <p:sp>
        <p:nvSpPr>
          <p:cNvPr id="10" name="Rounded Rectangle 9"/>
          <p:cNvSpPr/>
          <p:nvPr/>
        </p:nvSpPr>
        <p:spPr>
          <a:xfrm>
            <a:off x="6181344" y="2560320"/>
            <a:ext cx="2523744" cy="3749039"/>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18504" y="2743200"/>
            <a:ext cx="2249424" cy="3383280"/>
          </a:xfrm>
          <a:prstGeom prst="rect">
            <a:avLst/>
          </a:prstGeom>
          <a:noFill/>
        </p:spPr>
        <p:txBody>
          <a:bodyPr wrap="square">
            <a:spAutoFit/>
          </a:bodyPr>
          <a:lstStyle/>
          <a:p>
            <a:pPr>
              <a:defRPr sz="1400" b="1">
                <a:solidFill>
                  <a:srgbClr val="10B981"/>
                </a:solidFill>
              </a:defRPr>
            </a:pPr>
            <a:r>
              <a:t>🛑 Safety Parking Lot</a:t>
            </a:r>
          </a:p>
          <a:p>
            <a:pPr>
              <a:spcBef>
                <a:spcPts val="800"/>
              </a:spcBef>
              <a:defRPr sz="1050">
                <a:solidFill>
                  <a:srgbClr val="1E293B"/>
                </a:solidFill>
              </a:defRPr>
            </a:pPr>
            <a:r>
              <a:t>Dangerous keywords (delete, cancel, reset, buy) quarantined into a governance review list requiring human sign-off.</a:t>
            </a:r>
          </a:p>
        </p:txBody>
      </p:sp>
      <p:sp>
        <p:nvSpPr>
          <p:cNvPr id="12" name="Rounded Rectangle 11"/>
          <p:cNvSpPr/>
          <p:nvPr/>
        </p:nvSpPr>
        <p:spPr>
          <a:xfrm>
            <a:off x="8906256" y="2560320"/>
            <a:ext cx="2523744" cy="3749039"/>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43416" y="2743200"/>
            <a:ext cx="2249424" cy="3383280"/>
          </a:xfrm>
          <a:prstGeom prst="rect">
            <a:avLst/>
          </a:prstGeom>
          <a:noFill/>
        </p:spPr>
        <p:txBody>
          <a:bodyPr wrap="square">
            <a:spAutoFit/>
          </a:bodyPr>
          <a:lstStyle/>
          <a:p>
            <a:pPr>
              <a:defRPr sz="1400" b="1">
                <a:solidFill>
                  <a:srgbClr val="8B5CF6"/>
                </a:solidFill>
              </a:defRPr>
            </a:pPr>
            <a:r>
              <a:t>🔄 In-Place Session Refresh</a:t>
            </a:r>
          </a:p>
          <a:p>
            <a:pPr>
              <a:spcBef>
                <a:spcPts val="800"/>
              </a:spcBef>
              <a:defRPr sz="1050">
                <a:solidFill>
                  <a:srgbClr val="1E293B"/>
                </a:solidFill>
              </a:defRPr>
            </a:pPr>
            <a:r>
              <a:t>Expired sessions are renewed via /session/refresh without dropping discovered route graphs, checkpoints, or active runs.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563EB"/>
                </a:solidFill>
              </a:defRPr>
            </a:pPr>
            <a:r>
              <a:t>4-TIER TECHNICAL OVERVIEW</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defRPr>
            </a:pPr>
            <a:r>
              <a:t>Unified System Architecture Blueprint</a:t>
            </a:r>
          </a:p>
        </p:txBody>
      </p:sp>
      <p:sp>
        <p:nvSpPr>
          <p:cNvPr id="4" name="Rounded Rectangle 3"/>
          <p:cNvSpPr/>
          <p:nvPr/>
        </p:nvSpPr>
        <p:spPr>
          <a:xfrm>
            <a:off x="731520" y="1371600"/>
            <a:ext cx="2523744"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554480"/>
            <a:ext cx="2249424" cy="4572000"/>
          </a:xfrm>
          <a:prstGeom prst="rect">
            <a:avLst/>
          </a:prstGeom>
          <a:noFill/>
        </p:spPr>
        <p:txBody>
          <a:bodyPr wrap="square">
            <a:spAutoFit/>
          </a:bodyPr>
          <a:lstStyle/>
          <a:p>
            <a:pPr>
              <a:defRPr sz="1300" b="1">
                <a:solidFill>
                  <a:srgbClr val="2563EB"/>
                </a:solidFill>
              </a:defRPr>
            </a:pPr>
            <a:r>
              <a:t>Tier 1: Presentation &amp; UI</a:t>
            </a:r>
          </a:p>
          <a:p>
            <a:pPr>
              <a:spcBef>
                <a:spcPts val="200"/>
              </a:spcBef>
              <a:defRPr sz="1000" b="1">
                <a:solidFill>
                  <a:srgbClr val="64748B"/>
                </a:solidFill>
              </a:defRPr>
            </a:pPr>
            <a:r>
              <a:t>Tailwind CSS SPA</a:t>
            </a:r>
          </a:p>
          <a:p>
            <a:pPr>
              <a:spcBef>
                <a:spcPts val="600"/>
              </a:spcBef>
              <a:defRPr sz="950">
                <a:solidFill>
                  <a:srgbClr val="1E293B"/>
                </a:solidFill>
              </a:defRPr>
            </a:pPr>
            <a:r>
              <a:t>• 8-Step Responsive Stepper Interface</a:t>
            </a:r>
          </a:p>
          <a:p>
            <a:pPr>
              <a:spcBef>
                <a:spcPts val="600"/>
              </a:spcBef>
              <a:defRPr sz="950">
                <a:solidFill>
                  <a:srgbClr val="1E293B"/>
                </a:solidFill>
              </a:defRPr>
            </a:pPr>
            <a:r>
              <a:t>• Persistent Active-Run HUD Bar</a:t>
            </a:r>
          </a:p>
          <a:p>
            <a:pPr>
              <a:spcBef>
                <a:spcPts val="600"/>
              </a:spcBef>
              <a:defRPr sz="950">
                <a:solidFill>
                  <a:srgbClr val="1E293B"/>
                </a:solidFill>
              </a:defRPr>
            </a:pPr>
            <a:r>
              <a:t>• Dual-Transport WebSocket / Polling Telemetry</a:t>
            </a:r>
          </a:p>
          <a:p>
            <a:pPr>
              <a:spcBef>
                <a:spcPts val="600"/>
              </a:spcBef>
              <a:defRPr sz="950">
                <a:solidFill>
                  <a:srgbClr val="1E293B"/>
                </a:solidFill>
              </a:defRPr>
            </a:pPr>
            <a:r>
              <a:t>• Interactive Element &amp; Security Dossier Viewers</a:t>
            </a:r>
          </a:p>
          <a:p>
            <a:pPr>
              <a:spcBef>
                <a:spcPts val="600"/>
              </a:spcBef>
              <a:defRPr sz="950">
                <a:solidFill>
                  <a:srgbClr val="1E293B"/>
                </a:solidFill>
              </a:defRPr>
            </a:pPr>
            <a:r>
              <a:t>• Saved Runs, Regression Suites &amp; Baseline Hubs</a:t>
            </a:r>
          </a:p>
        </p:txBody>
      </p:sp>
      <p:sp>
        <p:nvSpPr>
          <p:cNvPr id="6" name="Rounded Rectangle 5"/>
          <p:cNvSpPr/>
          <p:nvPr/>
        </p:nvSpPr>
        <p:spPr>
          <a:xfrm>
            <a:off x="3456432" y="1371600"/>
            <a:ext cx="2523744"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93592" y="1554480"/>
            <a:ext cx="2249424" cy="4572000"/>
          </a:xfrm>
          <a:prstGeom prst="rect">
            <a:avLst/>
          </a:prstGeom>
          <a:noFill/>
        </p:spPr>
        <p:txBody>
          <a:bodyPr wrap="square">
            <a:spAutoFit/>
          </a:bodyPr>
          <a:lstStyle/>
          <a:p>
            <a:pPr>
              <a:defRPr sz="1300" b="1">
                <a:solidFill>
                  <a:srgbClr val="06B6D4"/>
                </a:solidFill>
              </a:defRPr>
            </a:pPr>
            <a:r>
              <a:t>Tier 2: API Gateway</a:t>
            </a:r>
          </a:p>
          <a:p>
            <a:pPr>
              <a:spcBef>
                <a:spcPts val="200"/>
              </a:spcBef>
              <a:defRPr sz="1000" b="1">
                <a:solidFill>
                  <a:srgbClr val="64748B"/>
                </a:solidFill>
              </a:defRPr>
            </a:pPr>
            <a:r>
              <a:t>FastAPI Asynchronous Engine</a:t>
            </a:r>
          </a:p>
          <a:p>
            <a:pPr>
              <a:spcBef>
                <a:spcPts val="600"/>
              </a:spcBef>
              <a:defRPr sz="950">
                <a:solidFill>
                  <a:srgbClr val="1E293B"/>
                </a:solidFill>
              </a:defRPr>
            </a:pPr>
            <a:r>
              <a:t>• /scan &amp; /discover-modules Orchestration</a:t>
            </a:r>
          </a:p>
          <a:p>
            <a:pPr>
              <a:spcBef>
                <a:spcPts val="600"/>
              </a:spcBef>
              <a:defRPr sz="950">
                <a:solidFill>
                  <a:srgbClr val="1E293B"/>
                </a:solidFill>
              </a:defRPr>
            </a:pPr>
            <a:r>
              <a:t>• /scan/control Live Pause / Resume / Cancel</a:t>
            </a:r>
          </a:p>
          <a:p>
            <a:pPr>
              <a:spcBef>
                <a:spcPts val="600"/>
              </a:spcBef>
              <a:defRPr sz="950">
                <a:solidFill>
                  <a:srgbClr val="1E293B"/>
                </a:solidFill>
              </a:defRPr>
            </a:pPr>
            <a:r>
              <a:t>• /runs/{id}/security Passive DAST Scanner</a:t>
            </a:r>
          </a:p>
          <a:p>
            <a:pPr>
              <a:spcBef>
                <a:spcPts val="600"/>
              </a:spcBef>
              <a:defRPr sz="950">
                <a:solidFill>
                  <a:srgbClr val="1E293B"/>
                </a:solidFill>
              </a:defRPr>
            </a:pPr>
            <a:r>
              <a:t>• /generate-tests Multi-Provider AI Gateway</a:t>
            </a:r>
          </a:p>
          <a:p>
            <a:pPr>
              <a:spcBef>
                <a:spcPts val="600"/>
              </a:spcBef>
              <a:defRPr sz="950">
                <a:solidFill>
                  <a:srgbClr val="1E293B"/>
                </a:solidFill>
              </a:defRPr>
            </a:pPr>
            <a:r>
              <a:t>• /execute-tests High-Speed Controlled Runner</a:t>
            </a:r>
          </a:p>
        </p:txBody>
      </p:sp>
      <p:sp>
        <p:nvSpPr>
          <p:cNvPr id="8" name="Rounded Rectangle 7"/>
          <p:cNvSpPr/>
          <p:nvPr/>
        </p:nvSpPr>
        <p:spPr>
          <a:xfrm>
            <a:off x="6181344" y="1371600"/>
            <a:ext cx="2523744"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18504" y="1554480"/>
            <a:ext cx="2249424" cy="4572000"/>
          </a:xfrm>
          <a:prstGeom prst="rect">
            <a:avLst/>
          </a:prstGeom>
          <a:noFill/>
        </p:spPr>
        <p:txBody>
          <a:bodyPr wrap="square">
            <a:spAutoFit/>
          </a:bodyPr>
          <a:lstStyle/>
          <a:p>
            <a:pPr>
              <a:defRPr sz="1300" b="1">
                <a:solidFill>
                  <a:srgbClr val="10B981"/>
                </a:solidFill>
              </a:defRPr>
            </a:pPr>
            <a:r>
              <a:t>Tier 3: Core Engine</a:t>
            </a:r>
          </a:p>
          <a:p>
            <a:pPr>
              <a:spcBef>
                <a:spcPts val="200"/>
              </a:spcBef>
              <a:defRPr sz="1000" b="1">
                <a:solidFill>
                  <a:srgbClr val="64748B"/>
                </a:solidFill>
              </a:defRPr>
            </a:pPr>
            <a:r>
              <a:t>Playwright Automation Core</a:t>
            </a:r>
          </a:p>
          <a:p>
            <a:pPr>
              <a:spcBef>
                <a:spcPts val="600"/>
              </a:spcBef>
              <a:defRPr sz="950">
                <a:solidFill>
                  <a:srgbClr val="1E293B"/>
                </a:solidFill>
              </a:defRPr>
            </a:pPr>
            <a:r>
              <a:t>• SecurityGuard (SSRF &amp; Boundary Containment)</a:t>
            </a:r>
          </a:p>
          <a:p>
            <a:pPr>
              <a:spcBef>
                <a:spcPts val="600"/>
              </a:spcBef>
              <a:defRPr sz="950">
                <a:solidFill>
                  <a:srgbClr val="1E293B"/>
                </a:solidFill>
              </a:defRPr>
            </a:pPr>
            <a:r>
              <a:t>• ViewportDeepScanner &amp; 12-Attr Fingerprinting</a:t>
            </a:r>
          </a:p>
          <a:p>
            <a:pPr>
              <a:spcBef>
                <a:spcPts val="600"/>
              </a:spcBef>
              <a:defRPr sz="950">
                <a:solidFill>
                  <a:srgbClr val="1E293B"/>
                </a:solidFill>
              </a:defRPr>
            </a:pPr>
            <a:r>
              <a:t>• ActionClassifier (Safe vs. Parking-Lot)</a:t>
            </a:r>
          </a:p>
          <a:p>
            <a:pPr>
              <a:spcBef>
                <a:spcPts val="600"/>
              </a:spcBef>
              <a:defRPr sz="950">
                <a:solidFill>
                  <a:srgbClr val="1E293B"/>
                </a:solidFill>
              </a:defRPr>
            </a:pPr>
            <a:r>
              <a:t>• AuthLifecycleService &amp; Session Key Storage</a:t>
            </a:r>
          </a:p>
          <a:p>
            <a:pPr>
              <a:spcBef>
                <a:spcPts val="600"/>
              </a:spcBef>
              <a:defRPr sz="950">
                <a:solidFill>
                  <a:srgbClr val="1E293B"/>
                </a:solidFill>
              </a:defRPr>
            </a:pPr>
            <a:r>
              <a:t>• Browser Session Recovery &amp; Reconnect Engine</a:t>
            </a:r>
          </a:p>
        </p:txBody>
      </p:sp>
      <p:sp>
        <p:nvSpPr>
          <p:cNvPr id="10" name="Rounded Rectangle 9"/>
          <p:cNvSpPr/>
          <p:nvPr/>
        </p:nvSpPr>
        <p:spPr>
          <a:xfrm>
            <a:off x="8906256" y="1371600"/>
            <a:ext cx="2523744"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43416" y="1554480"/>
            <a:ext cx="2249424" cy="4572000"/>
          </a:xfrm>
          <a:prstGeom prst="rect">
            <a:avLst/>
          </a:prstGeom>
          <a:noFill/>
        </p:spPr>
        <p:txBody>
          <a:bodyPr wrap="square">
            <a:spAutoFit/>
          </a:bodyPr>
          <a:lstStyle/>
          <a:p>
            <a:pPr>
              <a:defRPr sz="1300" b="1">
                <a:solidFill>
                  <a:srgbClr val="8B5CF6"/>
                </a:solidFill>
              </a:defRPr>
            </a:pPr>
            <a:r>
              <a:t>Tier 4: Durable Persistence</a:t>
            </a:r>
          </a:p>
          <a:p>
            <a:pPr>
              <a:spcBef>
                <a:spcPts val="200"/>
              </a:spcBef>
              <a:defRPr sz="1000" b="1">
                <a:solidFill>
                  <a:srgbClr val="64748B"/>
                </a:solidFill>
              </a:defRPr>
            </a:pPr>
            <a:r>
              <a:t>Relational Repository</a:t>
            </a:r>
          </a:p>
          <a:p>
            <a:pPr>
              <a:spcBef>
                <a:spcPts val="600"/>
              </a:spcBef>
              <a:defRPr sz="950">
                <a:solidFill>
                  <a:srgbClr val="1E293B"/>
                </a:solidFill>
              </a:defRPr>
            </a:pPr>
            <a:r>
              <a:t>• SQLAlchemy ORM (SQLite / PostgreSQL Support)</a:t>
            </a:r>
          </a:p>
          <a:p>
            <a:pPr>
              <a:spcBef>
                <a:spcPts val="600"/>
              </a:spcBef>
              <a:defRPr sz="950">
                <a:solidFill>
                  <a:srgbClr val="1E293B"/>
                </a:solidFill>
              </a:defRPr>
            </a:pPr>
            <a:r>
              <a:t>• RunContext JSON &amp; Memory State Synchronizer</a:t>
            </a:r>
          </a:p>
          <a:p>
            <a:pPr>
              <a:spcBef>
                <a:spcPts val="600"/>
              </a:spcBef>
              <a:defRPr sz="950">
                <a:solidFill>
                  <a:srgbClr val="1E293B"/>
                </a:solidFill>
              </a:defRPr>
            </a:pPr>
            <a:r>
              <a:t>• 10-Sheet Standardized Excel Audit Workbooks</a:t>
            </a:r>
          </a:p>
          <a:p>
            <a:pPr>
              <a:spcBef>
                <a:spcPts val="600"/>
              </a:spcBef>
              <a:defRPr sz="950">
                <a:solidFill>
                  <a:srgbClr val="1E293B"/>
                </a:solidFill>
              </a:defRPr>
            </a:pPr>
            <a:r>
              <a:t>• JUnit XML, JSON Metrics, &amp; HTML Report Store</a:t>
            </a:r>
          </a:p>
          <a:p>
            <a:pPr>
              <a:spcBef>
                <a:spcPts val="600"/>
              </a:spcBef>
              <a:defRPr sz="950">
                <a:solidFill>
                  <a:srgbClr val="1E293B"/>
                </a:solidFill>
              </a:defRPr>
            </a:pPr>
            <a:r>
              <a:t>• Perceptual Visual Regression Baseline Archive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563EB"/>
                </a:solidFill>
              </a:defRPr>
            </a:pPr>
            <a:r>
              <a:t>OPERATIONAL PIPELINE &amp; GOVERNANCE GATES</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defRPr>
            </a:pPr>
            <a:r>
              <a:t>The End-to-End 8-Step Testing Lifecycle</a:t>
            </a:r>
          </a:p>
        </p:txBody>
      </p:sp>
      <p:sp>
        <p:nvSpPr>
          <p:cNvPr id="4" name="Rounded Rectangle 3"/>
          <p:cNvSpPr/>
          <p:nvPr/>
        </p:nvSpPr>
        <p:spPr>
          <a:xfrm>
            <a:off x="731520" y="1371600"/>
            <a:ext cx="2523744"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508760"/>
            <a:ext cx="2249424" cy="1965960"/>
          </a:xfrm>
          <a:prstGeom prst="rect">
            <a:avLst/>
          </a:prstGeom>
          <a:noFill/>
        </p:spPr>
        <p:txBody>
          <a:bodyPr wrap="square">
            <a:spAutoFit/>
          </a:bodyPr>
          <a:lstStyle/>
          <a:p>
            <a:pPr>
              <a:defRPr sz="1400" b="1">
                <a:solidFill>
                  <a:srgbClr val="2563EB"/>
                </a:solidFill>
              </a:defRPr>
            </a:pPr>
            <a:r>
              <a:t>1. Scan App</a:t>
            </a:r>
          </a:p>
          <a:p>
            <a:pPr>
              <a:spcBef>
                <a:spcPts val="600"/>
              </a:spcBef>
              <a:defRPr sz="1000">
                <a:solidFill>
                  <a:srgbClr val="1E293B"/>
                </a:solidFill>
              </a:defRPr>
            </a:pPr>
            <a:r>
              <a:t>Target specification, credentials containment, and initial SPA/SSR probe.</a:t>
            </a:r>
          </a:p>
          <a:p>
            <a:pPr>
              <a:spcBef>
                <a:spcPts val="800"/>
              </a:spcBef>
              <a:defRPr sz="850" b="1">
                <a:solidFill>
                  <a:srgbClr val="64748B"/>
                </a:solidFill>
              </a:defRPr>
            </a:pPr>
            <a:r>
              <a:t>Gate: Explicit Confirmation</a:t>
            </a:r>
          </a:p>
        </p:txBody>
      </p:sp>
      <p:sp>
        <p:nvSpPr>
          <p:cNvPr id="6" name="Rounded Rectangle 5"/>
          <p:cNvSpPr/>
          <p:nvPr/>
        </p:nvSpPr>
        <p:spPr>
          <a:xfrm>
            <a:off x="3456432" y="1371600"/>
            <a:ext cx="2523744"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93592" y="1508760"/>
            <a:ext cx="2249424" cy="1965960"/>
          </a:xfrm>
          <a:prstGeom prst="rect">
            <a:avLst/>
          </a:prstGeom>
          <a:noFill/>
        </p:spPr>
        <p:txBody>
          <a:bodyPr wrap="square">
            <a:spAutoFit/>
          </a:bodyPr>
          <a:lstStyle/>
          <a:p>
            <a:pPr>
              <a:defRPr sz="1400" b="1">
                <a:solidFill>
                  <a:srgbClr val="2563EB"/>
                </a:solidFill>
              </a:defRPr>
            </a:pPr>
            <a:r>
              <a:t>2. Choose Modules</a:t>
            </a:r>
          </a:p>
          <a:p>
            <a:pPr>
              <a:spcBef>
                <a:spcPts val="600"/>
              </a:spcBef>
              <a:defRPr sz="1000">
                <a:solidFill>
                  <a:srgbClr val="1E293B"/>
                </a:solidFill>
              </a:defRPr>
            </a:pPr>
            <a:r>
              <a:t>Semantic clustering of discovered paths into testable functional domains.</a:t>
            </a:r>
          </a:p>
          <a:p>
            <a:pPr>
              <a:spcBef>
                <a:spcPts val="800"/>
              </a:spcBef>
              <a:defRPr sz="850" b="1">
                <a:solidFill>
                  <a:srgbClr val="64748B"/>
                </a:solidFill>
              </a:defRPr>
            </a:pPr>
            <a:r>
              <a:t>Gate: Explicit Confirmation</a:t>
            </a:r>
          </a:p>
        </p:txBody>
      </p:sp>
      <p:sp>
        <p:nvSpPr>
          <p:cNvPr id="8" name="Rounded Rectangle 7"/>
          <p:cNvSpPr/>
          <p:nvPr/>
        </p:nvSpPr>
        <p:spPr>
          <a:xfrm>
            <a:off x="6181344" y="1371600"/>
            <a:ext cx="2523744"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18504" y="1508760"/>
            <a:ext cx="2249424" cy="1965960"/>
          </a:xfrm>
          <a:prstGeom prst="rect">
            <a:avLst/>
          </a:prstGeom>
          <a:noFill/>
        </p:spPr>
        <p:txBody>
          <a:bodyPr wrap="square">
            <a:spAutoFit/>
          </a:bodyPr>
          <a:lstStyle/>
          <a:p>
            <a:pPr>
              <a:defRPr sz="1400" b="1">
                <a:solidFill>
                  <a:srgbClr val="F59E0B"/>
                </a:solidFill>
              </a:defRPr>
            </a:pPr>
            <a:r>
              <a:t>3. Manual Review</a:t>
            </a:r>
          </a:p>
          <a:p>
            <a:pPr>
              <a:spcBef>
                <a:spcPts val="600"/>
              </a:spcBef>
              <a:defRPr sz="1000">
                <a:solidFill>
                  <a:srgbClr val="1E293B"/>
                </a:solidFill>
              </a:defRPr>
            </a:pPr>
            <a:r>
              <a:t>Human-in-the-loop governance isolating destructive verbs in Parking Lot.</a:t>
            </a:r>
          </a:p>
          <a:p>
            <a:pPr>
              <a:spcBef>
                <a:spcPts val="800"/>
              </a:spcBef>
              <a:defRPr sz="850" b="1">
                <a:solidFill>
                  <a:srgbClr val="64748B"/>
                </a:solidFill>
              </a:defRPr>
            </a:pPr>
            <a:r>
              <a:t>Gate: Explicit Confirmation</a:t>
            </a:r>
          </a:p>
        </p:txBody>
      </p:sp>
      <p:sp>
        <p:nvSpPr>
          <p:cNvPr id="10" name="Rounded Rectangle 9"/>
          <p:cNvSpPr/>
          <p:nvPr/>
        </p:nvSpPr>
        <p:spPr>
          <a:xfrm>
            <a:off x="8906256" y="1371600"/>
            <a:ext cx="2523744"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43416" y="1508760"/>
            <a:ext cx="2249424" cy="1965960"/>
          </a:xfrm>
          <a:prstGeom prst="rect">
            <a:avLst/>
          </a:prstGeom>
          <a:noFill/>
        </p:spPr>
        <p:txBody>
          <a:bodyPr wrap="square">
            <a:spAutoFit/>
          </a:bodyPr>
          <a:lstStyle/>
          <a:p>
            <a:pPr>
              <a:defRPr sz="1400" b="1">
                <a:solidFill>
                  <a:srgbClr val="06B6D4"/>
                </a:solidFill>
              </a:defRPr>
            </a:pPr>
            <a:r>
              <a:t>4. Crawl Telemetry</a:t>
            </a:r>
          </a:p>
          <a:p>
            <a:pPr>
              <a:spcBef>
                <a:spcPts val="600"/>
              </a:spcBef>
              <a:defRPr sz="1000">
                <a:solidFill>
                  <a:srgbClr val="1E293B"/>
                </a:solidFill>
              </a:defRPr>
            </a:pPr>
            <a:r>
              <a:t>Deep sequential traversal with sub-second WebSocket telemetry HUD.</a:t>
            </a:r>
          </a:p>
          <a:p>
            <a:pPr>
              <a:spcBef>
                <a:spcPts val="800"/>
              </a:spcBef>
              <a:defRPr sz="850" b="1">
                <a:solidFill>
                  <a:srgbClr val="64748B"/>
                </a:solidFill>
              </a:defRPr>
            </a:pPr>
            <a:r>
              <a:t>Gate: Explicit Confirmation</a:t>
            </a:r>
          </a:p>
        </p:txBody>
      </p:sp>
      <p:sp>
        <p:nvSpPr>
          <p:cNvPr id="12" name="Rounded Rectangle 11"/>
          <p:cNvSpPr/>
          <p:nvPr/>
        </p:nvSpPr>
        <p:spPr>
          <a:xfrm>
            <a:off x="731520" y="3886200"/>
            <a:ext cx="2523744"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023360"/>
            <a:ext cx="2249424" cy="1965960"/>
          </a:xfrm>
          <a:prstGeom prst="rect">
            <a:avLst/>
          </a:prstGeom>
          <a:noFill/>
        </p:spPr>
        <p:txBody>
          <a:bodyPr wrap="square">
            <a:spAutoFit/>
          </a:bodyPr>
          <a:lstStyle/>
          <a:p>
            <a:pPr>
              <a:defRPr sz="1400" b="1">
                <a:solidFill>
                  <a:srgbClr val="06B6D4"/>
                </a:solidFill>
              </a:defRPr>
            </a:pPr>
            <a:r>
              <a:t>5. Analyze Routes</a:t>
            </a:r>
          </a:p>
          <a:p>
            <a:pPr>
              <a:spcBef>
                <a:spcPts val="600"/>
              </a:spcBef>
              <a:defRPr sz="1000">
                <a:solidFill>
                  <a:srgbClr val="1E293B"/>
                </a:solidFill>
              </a:defRPr>
            </a:pPr>
            <a:r>
              <a:t>Route health classification (Working/Partial/Non-Working) &amp; element map.</a:t>
            </a:r>
          </a:p>
          <a:p>
            <a:pPr>
              <a:spcBef>
                <a:spcPts val="800"/>
              </a:spcBef>
              <a:defRPr sz="850" b="1">
                <a:solidFill>
                  <a:srgbClr val="64748B"/>
                </a:solidFill>
              </a:defRPr>
            </a:pPr>
            <a:r>
              <a:t>Gate: Explicit Confirmation</a:t>
            </a:r>
          </a:p>
        </p:txBody>
      </p:sp>
      <p:sp>
        <p:nvSpPr>
          <p:cNvPr id="14" name="Rounded Rectangle 13"/>
          <p:cNvSpPr/>
          <p:nvPr/>
        </p:nvSpPr>
        <p:spPr>
          <a:xfrm>
            <a:off x="3456432" y="3886200"/>
            <a:ext cx="2523744"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93592" y="4023360"/>
            <a:ext cx="2249424" cy="1965960"/>
          </a:xfrm>
          <a:prstGeom prst="rect">
            <a:avLst/>
          </a:prstGeom>
          <a:noFill/>
        </p:spPr>
        <p:txBody>
          <a:bodyPr wrap="square">
            <a:spAutoFit/>
          </a:bodyPr>
          <a:lstStyle/>
          <a:p>
            <a:pPr>
              <a:defRPr sz="1400" b="1">
                <a:solidFill>
                  <a:srgbClr val="10B981"/>
                </a:solidFill>
              </a:defRPr>
            </a:pPr>
            <a:r>
              <a:t>6. Security DAST</a:t>
            </a:r>
          </a:p>
          <a:p>
            <a:pPr>
              <a:spcBef>
                <a:spcPts val="600"/>
              </a:spcBef>
              <a:defRPr sz="1000">
                <a:solidFill>
                  <a:srgbClr val="1E293B"/>
                </a:solidFill>
              </a:defRPr>
            </a:pPr>
            <a:r>
              <a:t>Passive OWASP Top 10 auditing (CSP, HSTS, cookie flags, unauth access).</a:t>
            </a:r>
          </a:p>
          <a:p>
            <a:pPr>
              <a:spcBef>
                <a:spcPts val="800"/>
              </a:spcBef>
              <a:defRPr sz="850" b="1">
                <a:solidFill>
                  <a:srgbClr val="64748B"/>
                </a:solidFill>
              </a:defRPr>
            </a:pPr>
            <a:r>
              <a:t>Gate: Explicit Confirmation</a:t>
            </a:r>
          </a:p>
        </p:txBody>
      </p:sp>
      <p:sp>
        <p:nvSpPr>
          <p:cNvPr id="16" name="Rounded Rectangle 15"/>
          <p:cNvSpPr/>
          <p:nvPr/>
        </p:nvSpPr>
        <p:spPr>
          <a:xfrm>
            <a:off x="6181344" y="3886200"/>
            <a:ext cx="2523744"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18504" y="4023360"/>
            <a:ext cx="2249424" cy="1965960"/>
          </a:xfrm>
          <a:prstGeom prst="rect">
            <a:avLst/>
          </a:prstGeom>
          <a:noFill/>
        </p:spPr>
        <p:txBody>
          <a:bodyPr wrap="square">
            <a:spAutoFit/>
          </a:bodyPr>
          <a:lstStyle/>
          <a:p>
            <a:pPr>
              <a:defRPr sz="1400" b="1">
                <a:solidFill>
                  <a:srgbClr val="8B5CF6"/>
                </a:solidFill>
              </a:defRPr>
            </a:pPr>
            <a:r>
              <a:t>7. Generate Tests</a:t>
            </a:r>
          </a:p>
          <a:p>
            <a:pPr>
              <a:spcBef>
                <a:spcPts val="600"/>
              </a:spcBef>
              <a:defRPr sz="1000">
                <a:solidFill>
                  <a:srgbClr val="1E293B"/>
                </a:solidFill>
              </a:defRPr>
            </a:pPr>
            <a:r>
              <a:t>Multi-provider AI planning gateway emitting clean standalone pytest code.</a:t>
            </a:r>
          </a:p>
          <a:p>
            <a:pPr>
              <a:spcBef>
                <a:spcPts val="800"/>
              </a:spcBef>
              <a:defRPr sz="850" b="1">
                <a:solidFill>
                  <a:srgbClr val="64748B"/>
                </a:solidFill>
              </a:defRPr>
            </a:pPr>
            <a:r>
              <a:t>Gate: Explicit Confirmation</a:t>
            </a:r>
          </a:p>
        </p:txBody>
      </p:sp>
      <p:sp>
        <p:nvSpPr>
          <p:cNvPr id="18" name="Rounded Rectangle 17"/>
          <p:cNvSpPr/>
          <p:nvPr/>
        </p:nvSpPr>
        <p:spPr>
          <a:xfrm>
            <a:off x="8906256" y="3886200"/>
            <a:ext cx="2523744" cy="2240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43416" y="4023360"/>
            <a:ext cx="2249424" cy="1965960"/>
          </a:xfrm>
          <a:prstGeom prst="rect">
            <a:avLst/>
          </a:prstGeom>
          <a:noFill/>
        </p:spPr>
        <p:txBody>
          <a:bodyPr wrap="square">
            <a:spAutoFit/>
          </a:bodyPr>
          <a:lstStyle/>
          <a:p>
            <a:pPr>
              <a:defRPr sz="1400" b="1">
                <a:solidFill>
                  <a:srgbClr val="8B5CF6"/>
                </a:solidFill>
              </a:defRPr>
            </a:pPr>
            <a:r>
              <a:t>8. Execute Tests</a:t>
            </a:r>
          </a:p>
          <a:p>
            <a:pPr>
              <a:spcBef>
                <a:spcPts val="600"/>
              </a:spcBef>
              <a:defRPr sz="1000">
                <a:solidFill>
                  <a:srgbClr val="1E293B"/>
                </a:solidFill>
              </a:defRPr>
            </a:pPr>
            <a:r>
              <a:t>Controlled headless/headed runner with per-step live assertion streaming.</a:t>
            </a:r>
          </a:p>
          <a:p>
            <a:pPr>
              <a:spcBef>
                <a:spcPts val="800"/>
              </a:spcBef>
              <a:defRPr sz="850" b="1">
                <a:solidFill>
                  <a:srgbClr val="64748B"/>
                </a:solidFill>
              </a:defRPr>
            </a:pPr>
            <a:r>
              <a:t>Gate: Explicit Confirmation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563EB"/>
                </a:solidFill>
              </a:defRPr>
            </a:pPr>
            <a:r>
              <a:t>STEP 1 — INITIATION &amp; TARGET SPECIFICATION</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defRPr>
            </a:pPr>
            <a:r>
              <a:t>Step 1: Scan Application &amp; Session Lifecycle</a:t>
            </a:r>
          </a:p>
        </p:txBody>
      </p:sp>
      <p:sp>
        <p:nvSpPr>
          <p:cNvPr id="4" name="Rounded Rectangle 3"/>
          <p:cNvSpPr/>
          <p:nvPr/>
        </p:nvSpPr>
        <p:spPr>
          <a:xfrm>
            <a:off x="731520" y="1371600"/>
            <a:ext cx="466344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00200"/>
            <a:ext cx="4206240" cy="4480560"/>
          </a:xfrm>
          <a:prstGeom prst="rect">
            <a:avLst/>
          </a:prstGeom>
          <a:noFill/>
        </p:spPr>
        <p:txBody>
          <a:bodyPr wrap="square">
            <a:spAutoFit/>
          </a:bodyPr>
          <a:lstStyle/>
          <a:p>
            <a:pPr>
              <a:defRPr sz="1550" b="1">
                <a:solidFill>
                  <a:srgbClr val="0F172A"/>
                </a:solidFill>
              </a:defRPr>
            </a:pPr>
            <a:r>
              <a:t>Target Configuration with Strict Session Containment</a:t>
            </a:r>
          </a:p>
          <a:p>
            <a:pPr>
              <a:spcBef>
                <a:spcPts val="800"/>
              </a:spcBef>
              <a:defRPr sz="1100" b="1">
                <a:solidFill>
                  <a:srgbClr val="2563EB"/>
                </a:solidFill>
              </a:defRPr>
            </a:pPr>
            <a:r>
              <a:t>🎯 Executive Value:</a:t>
            </a:r>
          </a:p>
          <a:p>
            <a:pPr>
              <a:spcBef>
                <a:spcPts val="600"/>
              </a:spcBef>
              <a:defRPr sz="1100">
                <a:solidFill>
                  <a:srgbClr val="1E293B"/>
                </a:solidFill>
              </a:defRPr>
            </a:pPr>
            <a:r>
              <a:t>✔ Single entry point supporting both public applications and authenticated enterprise portals.</a:t>
            </a:r>
          </a:p>
          <a:p>
            <a:pPr>
              <a:spcBef>
                <a:spcPts val="600"/>
              </a:spcBef>
              <a:defRPr sz="1100">
                <a:solidFill>
                  <a:srgbClr val="1E293B"/>
                </a:solidFill>
              </a:defRPr>
            </a:pPr>
            <a:r>
              <a:t>✔ Opaque Session Storage: Browser cookies and storage states saved under reports/auth_sessions/&lt;uuid&gt;.json.</a:t>
            </a:r>
          </a:p>
          <a:p>
            <a:pPr>
              <a:spcBef>
                <a:spcPts val="600"/>
              </a:spcBef>
              <a:defRPr sz="1100">
                <a:solidFill>
                  <a:srgbClr val="1E293B"/>
                </a:solidFill>
              </a:defRPr>
            </a:pPr>
            <a:r>
              <a:t>✔ Deterministic Mock/Demo Mode enables 100% offline, air-gapped evaluation without network dependencies.</a:t>
            </a:r>
          </a:p>
          <a:p>
            <a:pPr>
              <a:spcBef>
                <a:spcPts val="600"/>
              </a:spcBef>
              <a:defRPr sz="1100">
                <a:solidFill>
                  <a:srgbClr val="1E293B"/>
                </a:solidFill>
              </a:defRPr>
            </a:pPr>
            <a:r>
              <a:t>✔ Target Origin Boundary: Enforces strict host validation to prevent inadvertent off-site exploration.</a:t>
            </a:r>
          </a:p>
          <a:p>
            <a:pPr>
              <a:spcBef>
                <a:spcPts val="1200"/>
              </a:spcBef>
              <a:defRPr sz="1050" b="1">
                <a:solidFill>
                  <a:srgbClr val="10B981"/>
                </a:solidFill>
              </a:defRPr>
            </a:pPr>
            <a:r>
              <a:t>🛡 Enterprise Guarantee: Passwords, session tokens, and local storage keys are never logged in plaintext or exposed to telemetry.</a:t>
            </a:r>
          </a:p>
        </p:txBody>
      </p:sp>
      <p:sp>
        <p:nvSpPr>
          <p:cNvPr id="6" name="Rounded Rectangle 5"/>
          <p:cNvSpPr/>
          <p:nvPr/>
        </p:nvSpPr>
        <p:spPr>
          <a:xfrm>
            <a:off x="5623560" y="1371600"/>
            <a:ext cx="5852160" cy="4572000"/>
          </a:xfrm>
          <a:prstGeom prst="roundRect">
            <a:avLst/>
          </a:prstGeom>
          <a:solidFill>
            <a:srgbClr val="0F172A"/>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1_scan_application.png"/>
          <p:cNvPicPr>
            <a:picLocks noChangeAspect="1"/>
          </p:cNvPicPr>
          <p:nvPr/>
        </p:nvPicPr>
        <p:blipFill>
          <a:blip r:embed="rId2"/>
          <a:stretch>
            <a:fillRect/>
          </a:stretch>
        </p:blipFill>
        <p:spPr>
          <a:xfrm>
            <a:off x="5696712" y="1444752"/>
            <a:ext cx="5705856" cy="4425696"/>
          </a:xfrm>
          <a:prstGeom prst="rect">
            <a:avLst/>
          </a:prstGeom>
        </p:spPr>
      </p:pic>
      <p:sp>
        <p:nvSpPr>
          <p:cNvPr id="8" name="TextBox 7"/>
          <p:cNvSpPr txBox="1"/>
          <p:nvPr/>
        </p:nvSpPr>
        <p:spPr>
          <a:xfrm>
            <a:off x="5623560" y="6016752"/>
            <a:ext cx="5852160" cy="274320"/>
          </a:xfrm>
          <a:prstGeom prst="rect">
            <a:avLst/>
          </a:prstGeom>
          <a:noFill/>
        </p:spPr>
        <p:txBody>
          <a:bodyPr wrap="none">
            <a:spAutoFit/>
          </a:bodyPr>
          <a:lstStyle/>
          <a:p>
            <a:pPr>
              <a:defRPr sz="900" b="1">
                <a:solidFill>
                  <a:srgbClr val="64748B"/>
                </a:solidFill>
              </a:defRPr>
            </a:pPr>
            <a:r>
              <a:t>LIVE PLATFORM CAPTURE: TARGET URL SPECIFICATION, AUTH CREDENTIALS, AND OFFLINE DEMO CONTROLS [1440x900 @ 2x HI-DPI]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563EB"/>
                </a:solidFill>
              </a:defRPr>
            </a:pPr>
            <a:r>
              <a:t>STEP 2 — SCOPING &amp; SUBDOMAIN ISOLATION</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defRPr>
            </a:pPr>
            <a:r>
              <a:t>Step 2: Intelligent Module Discovery &amp; Boundary Locking</a:t>
            </a:r>
          </a:p>
        </p:txBody>
      </p:sp>
      <p:sp>
        <p:nvSpPr>
          <p:cNvPr id="4" name="Rounded Rectangle 3"/>
          <p:cNvSpPr/>
          <p:nvPr/>
        </p:nvSpPr>
        <p:spPr>
          <a:xfrm>
            <a:off x="731520" y="1371600"/>
            <a:ext cx="466344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00200"/>
            <a:ext cx="4206240" cy="4480560"/>
          </a:xfrm>
          <a:prstGeom prst="rect">
            <a:avLst/>
          </a:prstGeom>
          <a:noFill/>
        </p:spPr>
        <p:txBody>
          <a:bodyPr wrap="square">
            <a:spAutoFit/>
          </a:bodyPr>
          <a:lstStyle/>
          <a:p>
            <a:pPr>
              <a:defRPr sz="1550" b="1">
                <a:solidFill>
                  <a:srgbClr val="0F172A"/>
                </a:solidFill>
              </a:defRPr>
            </a:pPr>
            <a:r>
              <a:t>Semantic Route Clustering &amp; Selective Test Scoping</a:t>
            </a:r>
          </a:p>
          <a:p>
            <a:pPr>
              <a:spcBef>
                <a:spcPts val="800"/>
              </a:spcBef>
              <a:defRPr sz="1100" b="1">
                <a:solidFill>
                  <a:srgbClr val="2563EB"/>
                </a:solidFill>
              </a:defRPr>
            </a:pPr>
            <a:r>
              <a:t>🎯 Executive Value:</a:t>
            </a:r>
          </a:p>
          <a:p>
            <a:pPr>
              <a:spcBef>
                <a:spcPts val="600"/>
              </a:spcBef>
              <a:defRPr sz="1100">
                <a:solidFill>
                  <a:srgbClr val="1E293B"/>
                </a:solidFill>
              </a:defRPr>
            </a:pPr>
            <a:r>
              <a:t>✔ Autonomous Route Clustering: Discovered URLs grouped into logical domains (e.g. Auth, Inventory, Cart, Settings).</a:t>
            </a:r>
          </a:p>
          <a:p>
            <a:pPr>
              <a:spcBef>
                <a:spcPts val="600"/>
              </a:spcBef>
              <a:defRPr sz="1100">
                <a:solidFill>
                  <a:srgbClr val="1E293B"/>
                </a:solidFill>
              </a:defRPr>
            </a:pPr>
            <a:r>
              <a:t>✔ Granular Selection: Operators select only the modules affected by recent commits, cutting crawl time by up to 85%.</a:t>
            </a:r>
          </a:p>
          <a:p>
            <a:pPr>
              <a:spcBef>
                <a:spcPts val="600"/>
              </a:spcBef>
              <a:defRPr sz="1100">
                <a:solidFill>
                  <a:srgbClr val="1E293B"/>
                </a:solidFill>
              </a:defRPr>
            </a:pPr>
            <a:r>
              <a:t>✔ Dynamic Stale Run Invalidation: Changing module selection transparently flags downstream test suites as needing regeneration.</a:t>
            </a:r>
          </a:p>
          <a:p>
            <a:pPr>
              <a:spcBef>
                <a:spcPts val="600"/>
              </a:spcBef>
              <a:defRPr sz="1100">
                <a:solidFill>
                  <a:srgbClr val="1E293B"/>
                </a:solidFill>
              </a:defRPr>
            </a:pPr>
            <a:r>
              <a:t>✔ Boundary Locking: Prevents crawlers from expanding into unwanted subdomains or external OAuth redirect targets.</a:t>
            </a:r>
          </a:p>
          <a:p>
            <a:pPr>
              <a:spcBef>
                <a:spcPts val="1200"/>
              </a:spcBef>
              <a:defRPr sz="1050" b="1">
                <a:solidFill>
                  <a:srgbClr val="10B981"/>
                </a:solidFill>
              </a:defRPr>
            </a:pPr>
            <a:r>
              <a:t>🛡 Enterprise Guarantee: Crawling and test generation strictly bounded to selected modules; eliminates redundant enterprise test cycles.</a:t>
            </a:r>
          </a:p>
        </p:txBody>
      </p:sp>
      <p:sp>
        <p:nvSpPr>
          <p:cNvPr id="6" name="Rounded Rectangle 5"/>
          <p:cNvSpPr/>
          <p:nvPr/>
        </p:nvSpPr>
        <p:spPr>
          <a:xfrm>
            <a:off x="5623560" y="1371600"/>
            <a:ext cx="5852160" cy="4572000"/>
          </a:xfrm>
          <a:prstGeom prst="roundRect">
            <a:avLst/>
          </a:prstGeom>
          <a:solidFill>
            <a:srgbClr val="0F172A"/>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2_choose_modules.png"/>
          <p:cNvPicPr>
            <a:picLocks noChangeAspect="1"/>
          </p:cNvPicPr>
          <p:nvPr/>
        </p:nvPicPr>
        <p:blipFill>
          <a:blip r:embed="rId2"/>
          <a:stretch>
            <a:fillRect/>
          </a:stretch>
        </p:blipFill>
        <p:spPr>
          <a:xfrm>
            <a:off x="5696712" y="1444752"/>
            <a:ext cx="5705856" cy="4425696"/>
          </a:xfrm>
          <a:prstGeom prst="rect">
            <a:avLst/>
          </a:prstGeom>
        </p:spPr>
      </p:pic>
      <p:sp>
        <p:nvSpPr>
          <p:cNvPr id="8" name="TextBox 7"/>
          <p:cNvSpPr txBox="1"/>
          <p:nvPr/>
        </p:nvSpPr>
        <p:spPr>
          <a:xfrm>
            <a:off x="5623560" y="6016752"/>
            <a:ext cx="5852160" cy="274320"/>
          </a:xfrm>
          <a:prstGeom prst="rect">
            <a:avLst/>
          </a:prstGeom>
          <a:noFill/>
        </p:spPr>
        <p:txBody>
          <a:bodyPr wrap="none">
            <a:spAutoFit/>
          </a:bodyPr>
          <a:lstStyle/>
          <a:p>
            <a:pPr>
              <a:defRPr sz="900" b="1">
                <a:solidFill>
                  <a:srgbClr val="64748B"/>
                </a:solidFill>
              </a:defRPr>
            </a:pPr>
            <a:r>
              <a:t>LIVE PLATFORM CAPTURE: MODULE SELECTION CHECKBOXES WITH REAL-TIME ROUTE COUNT INDICATORS [1440x900 @ 2x HI-DPI]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563EB"/>
                </a:solidFill>
              </a:defRPr>
            </a:pPr>
            <a:r>
              <a:t>STEP 3 — HUMAN-IN-THE-LOOP GOVERNANCE</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defRPr>
            </a:pPr>
            <a:r>
              <a:t>Step 3: Interactive Manual Review &amp; Safety Enclaves</a:t>
            </a:r>
          </a:p>
        </p:txBody>
      </p:sp>
      <p:sp>
        <p:nvSpPr>
          <p:cNvPr id="4" name="Rounded Rectangle 3"/>
          <p:cNvSpPr/>
          <p:nvPr/>
        </p:nvSpPr>
        <p:spPr>
          <a:xfrm>
            <a:off x="731520" y="1371600"/>
            <a:ext cx="466344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00200"/>
            <a:ext cx="4206240" cy="4480560"/>
          </a:xfrm>
          <a:prstGeom prst="rect">
            <a:avLst/>
          </a:prstGeom>
          <a:noFill/>
        </p:spPr>
        <p:txBody>
          <a:bodyPr wrap="square">
            <a:spAutoFit/>
          </a:bodyPr>
          <a:lstStyle/>
          <a:p>
            <a:pPr>
              <a:defRPr sz="1550" b="1">
                <a:solidFill>
                  <a:srgbClr val="0F172A"/>
                </a:solidFill>
              </a:defRPr>
            </a:pPr>
            <a:r>
              <a:t>Pre-Crawl Risk Triage &amp; Destructive Action Parking Lot</a:t>
            </a:r>
          </a:p>
          <a:p>
            <a:pPr>
              <a:spcBef>
                <a:spcPts val="800"/>
              </a:spcBef>
              <a:defRPr sz="1100" b="1">
                <a:solidFill>
                  <a:srgbClr val="2563EB"/>
                </a:solidFill>
              </a:defRPr>
            </a:pPr>
            <a:r>
              <a:t>🎯 Executive Value:</a:t>
            </a:r>
          </a:p>
          <a:p>
            <a:pPr>
              <a:spcBef>
                <a:spcPts val="600"/>
              </a:spcBef>
              <a:defRPr sz="1100">
                <a:solidFill>
                  <a:srgbClr val="1E293B"/>
                </a:solidFill>
              </a:defRPr>
            </a:pPr>
            <a:r>
              <a:t>✔ Heuristic Classifier: Automatically flags dangerous endpoints containing keywords like delete, cancel, reset, purchase, logout.</a:t>
            </a:r>
          </a:p>
          <a:p>
            <a:pPr>
              <a:spcBef>
                <a:spcPts val="600"/>
              </a:spcBef>
              <a:defRPr sz="1100">
                <a:solidFill>
                  <a:srgbClr val="1E293B"/>
                </a:solidFill>
              </a:defRPr>
            </a:pPr>
            <a:r>
              <a:t>✔ Parking-Lot Enclave: Questionable routes quarantined into a dedicated review table requiring explicit operator sign-off.</a:t>
            </a:r>
          </a:p>
          <a:p>
            <a:pPr>
              <a:spcBef>
                <a:spcPts val="600"/>
              </a:spcBef>
              <a:defRPr sz="1100">
                <a:solidFill>
                  <a:srgbClr val="1E293B"/>
                </a:solidFill>
              </a:defRPr>
            </a:pPr>
            <a:r>
              <a:t>✔ Deep-Link Ingestion: Operators can manually inject custom deep operational URLs into the queue before crawling.</a:t>
            </a:r>
          </a:p>
          <a:p>
            <a:pPr>
              <a:spcBef>
                <a:spcPts val="600"/>
              </a:spcBef>
              <a:defRPr sz="1100">
                <a:solidFill>
                  <a:srgbClr val="1E293B"/>
                </a:solidFill>
              </a:defRPr>
            </a:pPr>
            <a:r>
              <a:t>✔ Zero Surprise Guarantee: Autonomous crawlers are physically blocked from clicking unapproved destructive buttons.</a:t>
            </a:r>
          </a:p>
          <a:p>
            <a:pPr>
              <a:spcBef>
                <a:spcPts val="1200"/>
              </a:spcBef>
              <a:defRPr sz="1050" b="1">
                <a:solidFill>
                  <a:srgbClr val="10B981"/>
                </a:solidFill>
              </a:defRPr>
            </a:pPr>
            <a:r>
              <a:t>🛡 Enterprise Guarantee: Zero unintentional destructive database mutations or account terminations during autonomous crawling.</a:t>
            </a:r>
          </a:p>
        </p:txBody>
      </p:sp>
      <p:sp>
        <p:nvSpPr>
          <p:cNvPr id="6" name="Rounded Rectangle 5"/>
          <p:cNvSpPr/>
          <p:nvPr/>
        </p:nvSpPr>
        <p:spPr>
          <a:xfrm>
            <a:off x="5623560" y="1371600"/>
            <a:ext cx="5852160" cy="4572000"/>
          </a:xfrm>
          <a:prstGeom prst="roundRect">
            <a:avLst/>
          </a:prstGeom>
          <a:solidFill>
            <a:srgbClr val="0F172A"/>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3_manual_review.png"/>
          <p:cNvPicPr>
            <a:picLocks noChangeAspect="1"/>
          </p:cNvPicPr>
          <p:nvPr/>
        </p:nvPicPr>
        <p:blipFill>
          <a:blip r:embed="rId2"/>
          <a:stretch>
            <a:fillRect/>
          </a:stretch>
        </p:blipFill>
        <p:spPr>
          <a:xfrm>
            <a:off x="5696712" y="1444752"/>
            <a:ext cx="5705856" cy="4425696"/>
          </a:xfrm>
          <a:prstGeom prst="rect">
            <a:avLst/>
          </a:prstGeom>
        </p:spPr>
      </p:pic>
      <p:sp>
        <p:nvSpPr>
          <p:cNvPr id="8" name="TextBox 7"/>
          <p:cNvSpPr txBox="1"/>
          <p:nvPr/>
        </p:nvSpPr>
        <p:spPr>
          <a:xfrm>
            <a:off x="5623560" y="6016752"/>
            <a:ext cx="5852160" cy="274320"/>
          </a:xfrm>
          <a:prstGeom prst="rect">
            <a:avLst/>
          </a:prstGeom>
          <a:noFill/>
        </p:spPr>
        <p:txBody>
          <a:bodyPr wrap="none">
            <a:spAutoFit/>
          </a:bodyPr>
          <a:lstStyle/>
          <a:p>
            <a:pPr>
              <a:defRPr sz="900" b="1">
                <a:solidFill>
                  <a:srgbClr val="64748B"/>
                </a:solidFill>
              </a:defRPr>
            </a:pPr>
            <a:r>
              <a:t>LIVE PLATFORM CAPTURE: INTERACTIVE ROUTE CONFIRMATION TABLE WITH PARKING-LOT SAFETY INDICATORS [1440x900 @ 2x HI-DPI]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563EB"/>
                </a:solidFill>
              </a:defRPr>
            </a:pPr>
            <a:r>
              <a:t>STEP 4 — TRAVERSAL &amp; RESILIENT TELEMETRY</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defRPr>
            </a:pPr>
            <a:r>
              <a:t>Step 4: Real-Time Crawl Telemetry &amp; Bounded Traversal</a:t>
            </a:r>
          </a:p>
        </p:txBody>
      </p:sp>
      <p:sp>
        <p:nvSpPr>
          <p:cNvPr id="4" name="Rounded Rectangle 3"/>
          <p:cNvSpPr/>
          <p:nvPr/>
        </p:nvSpPr>
        <p:spPr>
          <a:xfrm>
            <a:off x="731520" y="1371600"/>
            <a:ext cx="466344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00200"/>
            <a:ext cx="4206240" cy="4480560"/>
          </a:xfrm>
          <a:prstGeom prst="rect">
            <a:avLst/>
          </a:prstGeom>
          <a:noFill/>
        </p:spPr>
        <p:txBody>
          <a:bodyPr wrap="square">
            <a:spAutoFit/>
          </a:bodyPr>
          <a:lstStyle/>
          <a:p>
            <a:pPr>
              <a:defRPr sz="1550" b="1">
                <a:solidFill>
                  <a:srgbClr val="0F172A"/>
                </a:solidFill>
              </a:defRPr>
            </a:pPr>
            <a:r>
              <a:t>Sub-Second Live Streaming &amp; Global Active-Run HUD</a:t>
            </a:r>
          </a:p>
          <a:p>
            <a:pPr>
              <a:spcBef>
                <a:spcPts val="800"/>
              </a:spcBef>
              <a:defRPr sz="1100" b="1">
                <a:solidFill>
                  <a:srgbClr val="2563EB"/>
                </a:solidFill>
              </a:defRPr>
            </a:pPr>
            <a:r>
              <a:t>🎯 Executive Value:</a:t>
            </a:r>
          </a:p>
          <a:p>
            <a:pPr>
              <a:spcBef>
                <a:spcPts val="600"/>
              </a:spcBef>
              <a:defRPr sz="1100">
                <a:solidFill>
                  <a:srgbClr val="1E293B"/>
                </a:solidFill>
              </a:defRPr>
            </a:pPr>
            <a:r>
              <a:t>✔ Dual-Transport Telemetry: High-speed WebSocket streaming with seamless fallback to HTTP polling upon network drops.</a:t>
            </a:r>
          </a:p>
          <a:p>
            <a:pPr>
              <a:spcBef>
                <a:spcPts val="600"/>
              </a:spcBef>
              <a:defRPr sz="1100">
                <a:solidFill>
                  <a:srgbClr val="1E293B"/>
                </a:solidFill>
              </a:defRPr>
            </a:pPr>
            <a:r>
              <a:t>✔ Persistent Active-Run HUD: Global top bar displays Target URL, Run ID, Active Module, Current Route, and DB Status.</a:t>
            </a:r>
          </a:p>
          <a:p>
            <a:pPr>
              <a:spcBef>
                <a:spcPts val="600"/>
              </a:spcBef>
              <a:defRPr sz="1100">
                <a:solidFill>
                  <a:srgbClr val="1E293B"/>
                </a:solidFill>
              </a:defRPr>
            </a:pPr>
            <a:r>
              <a:t>✔ Operator Controls: Live Pause, Resume, and Graceful End Scan actions available at any moment.</a:t>
            </a:r>
          </a:p>
          <a:p>
            <a:pPr>
              <a:spcBef>
                <a:spcPts val="600"/>
              </a:spcBef>
              <a:defRPr sz="1100">
                <a:solidFill>
                  <a:srgbClr val="1E293B"/>
                </a:solidFill>
              </a:defRPr>
            </a:pPr>
            <a:r>
              <a:t>✔ Terminal State Integrity: Completed scans lock controls, stop polling, and cleanly activate 'View Analysis'.</a:t>
            </a:r>
          </a:p>
          <a:p>
            <a:pPr>
              <a:spcBef>
                <a:spcPts val="1200"/>
              </a:spcBef>
              <a:defRPr sz="1050" b="1">
                <a:solidFill>
                  <a:srgbClr val="10B981"/>
                </a:solidFill>
              </a:defRPr>
            </a:pPr>
            <a:r>
              <a:t>🛡 Enterprise Guarantee: Zero automatic phase transitions; operator retains complete supervisory control throughout exploration.</a:t>
            </a:r>
          </a:p>
        </p:txBody>
      </p:sp>
      <p:sp>
        <p:nvSpPr>
          <p:cNvPr id="6" name="Rounded Rectangle 5"/>
          <p:cNvSpPr/>
          <p:nvPr/>
        </p:nvSpPr>
        <p:spPr>
          <a:xfrm>
            <a:off x="5623560" y="1371600"/>
            <a:ext cx="5852160" cy="4572000"/>
          </a:xfrm>
          <a:prstGeom prst="roundRect">
            <a:avLst/>
          </a:prstGeom>
          <a:solidFill>
            <a:srgbClr val="0F172A"/>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4_crawl_telemetry.png"/>
          <p:cNvPicPr>
            <a:picLocks noChangeAspect="1"/>
          </p:cNvPicPr>
          <p:nvPr/>
        </p:nvPicPr>
        <p:blipFill>
          <a:blip r:embed="rId2"/>
          <a:stretch>
            <a:fillRect/>
          </a:stretch>
        </p:blipFill>
        <p:spPr>
          <a:xfrm>
            <a:off x="5696712" y="1444752"/>
            <a:ext cx="5705856" cy="4425696"/>
          </a:xfrm>
          <a:prstGeom prst="rect">
            <a:avLst/>
          </a:prstGeom>
        </p:spPr>
      </p:pic>
      <p:sp>
        <p:nvSpPr>
          <p:cNvPr id="8" name="TextBox 7"/>
          <p:cNvSpPr txBox="1"/>
          <p:nvPr/>
        </p:nvSpPr>
        <p:spPr>
          <a:xfrm>
            <a:off x="5623560" y="6016752"/>
            <a:ext cx="5852160" cy="274320"/>
          </a:xfrm>
          <a:prstGeom prst="rect">
            <a:avLst/>
          </a:prstGeom>
          <a:noFill/>
        </p:spPr>
        <p:txBody>
          <a:bodyPr wrap="none">
            <a:spAutoFit/>
          </a:bodyPr>
          <a:lstStyle/>
          <a:p>
            <a:pPr>
              <a:defRPr sz="900" b="1">
                <a:solidFill>
                  <a:srgbClr val="64748B"/>
                </a:solidFill>
              </a:defRPr>
            </a:pPr>
            <a:r>
              <a:t>LIVE PLATFORM CAPTURE: LIVE PROGRESS BAR, ROUTE STREAM, AND ACTIVE-RUN PERSISTENT HUD [1440x900 @ 2x HI-DPI]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563EB"/>
                </a:solidFill>
              </a:defRPr>
            </a:pPr>
            <a:r>
              <a:t>STEP 5 — CATALOGING &amp; ROUTE TAXONOMY</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defRPr>
            </a:pPr>
            <a:r>
              <a:t>Step 5: Route Health Catalog &amp; UI Intelligence</a:t>
            </a:r>
          </a:p>
        </p:txBody>
      </p:sp>
      <p:sp>
        <p:nvSpPr>
          <p:cNvPr id="4" name="Rounded Rectangle 3"/>
          <p:cNvSpPr/>
          <p:nvPr/>
        </p:nvSpPr>
        <p:spPr>
          <a:xfrm>
            <a:off x="731520" y="1371600"/>
            <a:ext cx="466344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00200"/>
            <a:ext cx="4206240" cy="4480560"/>
          </a:xfrm>
          <a:prstGeom prst="rect">
            <a:avLst/>
          </a:prstGeom>
          <a:noFill/>
        </p:spPr>
        <p:txBody>
          <a:bodyPr wrap="square">
            <a:spAutoFit/>
          </a:bodyPr>
          <a:lstStyle/>
          <a:p>
            <a:pPr>
              <a:defRPr sz="1550" b="1">
                <a:solidFill>
                  <a:srgbClr val="0F172A"/>
                </a:solidFill>
              </a:defRPr>
            </a:pPr>
            <a:r>
              <a:t>Automated Health Derivation &amp; 12-Attribute Element Fingerprinting</a:t>
            </a:r>
          </a:p>
          <a:p>
            <a:pPr>
              <a:spcBef>
                <a:spcPts val="800"/>
              </a:spcBef>
              <a:defRPr sz="1100" b="1">
                <a:solidFill>
                  <a:srgbClr val="2563EB"/>
                </a:solidFill>
              </a:defRPr>
            </a:pPr>
            <a:r>
              <a:t>🎯 Executive Value:</a:t>
            </a:r>
          </a:p>
          <a:p>
            <a:pPr>
              <a:spcBef>
                <a:spcPts val="600"/>
              </a:spcBef>
              <a:defRPr sz="1100">
                <a:solidFill>
                  <a:srgbClr val="1E293B"/>
                </a:solidFill>
              </a:defRPr>
            </a:pPr>
            <a:r>
              <a:t>✔ Normalized Route Taxonomy: Every page classified into Working, Partial, or Non-Working based on HTTP and client responses.</a:t>
            </a:r>
          </a:p>
          <a:p>
            <a:pPr>
              <a:spcBef>
                <a:spcPts val="600"/>
              </a:spcBef>
              <a:defRPr sz="1100">
                <a:solidFill>
                  <a:srgbClr val="1E293B"/>
                </a:solidFill>
              </a:defRPr>
            </a:pPr>
            <a:r>
              <a:t>✔ 12-Attribute Element Map: Indexes all interactive buttons, inputs, selects, links, forms, and ARIA accessibility roles.</a:t>
            </a:r>
          </a:p>
          <a:p>
            <a:pPr>
              <a:spcBef>
                <a:spcPts val="600"/>
              </a:spcBef>
              <a:defRPr sz="1100">
                <a:solidFill>
                  <a:srgbClr val="1E293B"/>
                </a:solidFill>
              </a:defRPr>
            </a:pPr>
            <a:r>
              <a:t>✔ Instant Triage: Detects 404 dead links, 500 server crashes, and client-side rendering failures before writing tests.</a:t>
            </a:r>
          </a:p>
          <a:p>
            <a:pPr>
              <a:spcBef>
                <a:spcPts val="600"/>
              </a:spcBef>
              <a:defRPr sz="1100">
                <a:solidFill>
                  <a:srgbClr val="1E293B"/>
                </a:solidFill>
              </a:defRPr>
            </a:pPr>
            <a:r>
              <a:t>✔ Deep Filtering: Filter discovered elements by module, HTTP status code, interactive role, or URL path.</a:t>
            </a:r>
          </a:p>
          <a:p>
            <a:pPr>
              <a:spcBef>
                <a:spcPts val="1200"/>
              </a:spcBef>
              <a:defRPr sz="1050" b="1">
                <a:solidFill>
                  <a:srgbClr val="10B981"/>
                </a:solidFill>
              </a:defRPr>
            </a:pPr>
            <a:r>
              <a:t>🛡 Enterprise Guarantee: Summary metric cards strictly reconcile with underlying route records; zero false-zero counts.</a:t>
            </a:r>
          </a:p>
        </p:txBody>
      </p:sp>
      <p:sp>
        <p:nvSpPr>
          <p:cNvPr id="6" name="Rounded Rectangle 5"/>
          <p:cNvSpPr/>
          <p:nvPr/>
        </p:nvSpPr>
        <p:spPr>
          <a:xfrm>
            <a:off x="5623560" y="1371600"/>
            <a:ext cx="5852160" cy="4572000"/>
          </a:xfrm>
          <a:prstGeom prst="roundRect">
            <a:avLst/>
          </a:prstGeom>
          <a:solidFill>
            <a:srgbClr val="0F172A"/>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5_route_health_catalog.png"/>
          <p:cNvPicPr>
            <a:picLocks noChangeAspect="1"/>
          </p:cNvPicPr>
          <p:nvPr/>
        </p:nvPicPr>
        <p:blipFill>
          <a:blip r:embed="rId2"/>
          <a:stretch>
            <a:fillRect/>
          </a:stretch>
        </p:blipFill>
        <p:spPr>
          <a:xfrm>
            <a:off x="5696712" y="1444752"/>
            <a:ext cx="5705856" cy="4425696"/>
          </a:xfrm>
          <a:prstGeom prst="rect">
            <a:avLst/>
          </a:prstGeom>
        </p:spPr>
      </p:pic>
      <p:sp>
        <p:nvSpPr>
          <p:cNvPr id="8" name="TextBox 7"/>
          <p:cNvSpPr txBox="1"/>
          <p:nvPr/>
        </p:nvSpPr>
        <p:spPr>
          <a:xfrm>
            <a:off x="5623560" y="6016752"/>
            <a:ext cx="5852160" cy="274320"/>
          </a:xfrm>
          <a:prstGeom prst="rect">
            <a:avLst/>
          </a:prstGeom>
          <a:noFill/>
        </p:spPr>
        <p:txBody>
          <a:bodyPr wrap="none">
            <a:spAutoFit/>
          </a:bodyPr>
          <a:lstStyle/>
          <a:p>
            <a:pPr>
              <a:defRPr sz="900" b="1">
                <a:solidFill>
                  <a:srgbClr val="64748B"/>
                </a:solidFill>
              </a:defRPr>
            </a:pPr>
            <a:r>
              <a:t>LIVE PLATFORM CAPTURE: DISCOVERED ROUTE TABLE, HEALTH BADGES, AND ELEMENT DENSITY METRICS [1440x900 @ 2x HI-DPI]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563EB"/>
                </a:solidFill>
              </a:defRPr>
            </a:pPr>
            <a:r>
              <a:t>STEP 6 — PASSIVE VULNERABILITY AUDITING</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defRPr>
            </a:pPr>
            <a:r>
              <a:t>Step 6: Non-Destructive DAST Security Assessment</a:t>
            </a:r>
          </a:p>
        </p:txBody>
      </p:sp>
      <p:sp>
        <p:nvSpPr>
          <p:cNvPr id="4" name="Rounded Rectangle 3"/>
          <p:cNvSpPr/>
          <p:nvPr/>
        </p:nvSpPr>
        <p:spPr>
          <a:xfrm>
            <a:off x="731520" y="1371600"/>
            <a:ext cx="466344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00200"/>
            <a:ext cx="4206240" cy="4480560"/>
          </a:xfrm>
          <a:prstGeom prst="rect">
            <a:avLst/>
          </a:prstGeom>
          <a:noFill/>
        </p:spPr>
        <p:txBody>
          <a:bodyPr wrap="square">
            <a:spAutoFit/>
          </a:bodyPr>
          <a:lstStyle/>
          <a:p>
            <a:pPr>
              <a:defRPr sz="1550" b="1">
                <a:solidFill>
                  <a:srgbClr val="0F172A"/>
                </a:solidFill>
              </a:defRPr>
            </a:pPr>
            <a:r>
              <a:t>OWASP Top 10 (2021) Passive Compliance Auditing</a:t>
            </a:r>
          </a:p>
          <a:p>
            <a:pPr>
              <a:spcBef>
                <a:spcPts val="800"/>
              </a:spcBef>
              <a:defRPr sz="1100" b="1">
                <a:solidFill>
                  <a:srgbClr val="2563EB"/>
                </a:solidFill>
              </a:defRPr>
            </a:pPr>
            <a:r>
              <a:t>🎯 Executive Value:</a:t>
            </a:r>
          </a:p>
          <a:p>
            <a:pPr>
              <a:spcBef>
                <a:spcPts val="600"/>
              </a:spcBef>
              <a:defRPr sz="1100">
                <a:solidFill>
                  <a:srgbClr val="1E293B"/>
                </a:solidFill>
              </a:defRPr>
            </a:pPr>
            <a:r>
              <a:t>✔ Security Headers Audit: Evaluates Strict-Transport-Security (HSTS), Content-Security-Policy (CSP), and X-Frame-Options.</a:t>
            </a:r>
          </a:p>
          <a:p>
            <a:pPr>
              <a:spcBef>
                <a:spcPts val="600"/>
              </a:spcBef>
              <a:defRPr sz="1100">
                <a:solidFill>
                  <a:srgbClr val="1E293B"/>
                </a:solidFill>
              </a:defRPr>
            </a:pPr>
            <a:r>
              <a:t>✔ Cookie Security Review: Flags missing Secure, HttpOnly, and SameSite flags across all established session cookies.</a:t>
            </a:r>
          </a:p>
          <a:p>
            <a:pPr>
              <a:spcBef>
                <a:spcPts val="600"/>
              </a:spcBef>
              <a:defRPr sz="1100">
                <a:solidFill>
                  <a:srgbClr val="1E293B"/>
                </a:solidFill>
              </a:defRPr>
            </a:pPr>
            <a:r>
              <a:t>✔ Unauthenticated Access Probing: Tests discovered internal routes without auth headers to identify broken access controls.</a:t>
            </a:r>
          </a:p>
          <a:p>
            <a:pPr>
              <a:spcBef>
                <a:spcPts val="600"/>
              </a:spcBef>
              <a:defRPr sz="1100">
                <a:solidFill>
                  <a:srgbClr val="1E293B"/>
                </a:solidFill>
              </a:defRPr>
            </a:pPr>
            <a:r>
              <a:t>✔ CORS &amp; Secret Leakage: Scans client responses for permissive wildcard origins and accidentally exposed tokens.</a:t>
            </a:r>
          </a:p>
          <a:p>
            <a:pPr>
              <a:spcBef>
                <a:spcPts val="1200"/>
              </a:spcBef>
              <a:defRPr sz="1050" b="1">
                <a:solidFill>
                  <a:srgbClr val="10B981"/>
                </a:solidFill>
              </a:defRPr>
            </a:pPr>
            <a:r>
              <a:t>🛡 Enterprise Guarantee: Low-impact passive inspection only; zero destructive payloads, injection attacks, or denial-of-service risks.</a:t>
            </a:r>
          </a:p>
        </p:txBody>
      </p:sp>
      <p:sp>
        <p:nvSpPr>
          <p:cNvPr id="6" name="Rounded Rectangle 5"/>
          <p:cNvSpPr/>
          <p:nvPr/>
        </p:nvSpPr>
        <p:spPr>
          <a:xfrm>
            <a:off x="5623560" y="1371600"/>
            <a:ext cx="5852160" cy="4572000"/>
          </a:xfrm>
          <a:prstGeom prst="roundRect">
            <a:avLst/>
          </a:prstGeom>
          <a:solidFill>
            <a:srgbClr val="0F172A"/>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6_security_assessment.png"/>
          <p:cNvPicPr>
            <a:picLocks noChangeAspect="1"/>
          </p:cNvPicPr>
          <p:nvPr/>
        </p:nvPicPr>
        <p:blipFill>
          <a:blip r:embed="rId2"/>
          <a:stretch>
            <a:fillRect/>
          </a:stretch>
        </p:blipFill>
        <p:spPr>
          <a:xfrm>
            <a:off x="5696712" y="1444752"/>
            <a:ext cx="5705856" cy="4425696"/>
          </a:xfrm>
          <a:prstGeom prst="rect">
            <a:avLst/>
          </a:prstGeom>
        </p:spPr>
      </p:pic>
      <p:sp>
        <p:nvSpPr>
          <p:cNvPr id="8" name="TextBox 7"/>
          <p:cNvSpPr txBox="1"/>
          <p:nvPr/>
        </p:nvSpPr>
        <p:spPr>
          <a:xfrm>
            <a:off x="5623560" y="6016752"/>
            <a:ext cx="5852160" cy="274320"/>
          </a:xfrm>
          <a:prstGeom prst="rect">
            <a:avLst/>
          </a:prstGeom>
          <a:noFill/>
        </p:spPr>
        <p:txBody>
          <a:bodyPr wrap="none">
            <a:spAutoFit/>
          </a:bodyPr>
          <a:lstStyle/>
          <a:p>
            <a:pPr>
              <a:defRPr sz="900" b="1">
                <a:solidFill>
                  <a:srgbClr val="64748B"/>
                </a:solidFill>
              </a:defRPr>
            </a:pPr>
            <a:r>
              <a:t>LIVE PLATFORM CAPTURE: OWASP FINDING CARDS, SEVERITY BADGES, AND REMEDIATION RECOMMENDATIONS [1440x900 @ 2x HI-DPI]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563EB"/>
                </a:solidFill>
              </a:defRPr>
            </a:pPr>
            <a:r>
              <a:t>STEP 7 — GROUNDED TEST SYNTHESIS</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defRPr>
            </a:pPr>
            <a:r>
              <a:t>Step 7: Multi-Provider AI Test Planning Gateway</a:t>
            </a:r>
          </a:p>
        </p:txBody>
      </p:sp>
      <p:sp>
        <p:nvSpPr>
          <p:cNvPr id="4" name="Rounded Rectangle 3"/>
          <p:cNvSpPr/>
          <p:nvPr/>
        </p:nvSpPr>
        <p:spPr>
          <a:xfrm>
            <a:off x="731520" y="1371600"/>
            <a:ext cx="466344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00200"/>
            <a:ext cx="4206240" cy="4480560"/>
          </a:xfrm>
          <a:prstGeom prst="rect">
            <a:avLst/>
          </a:prstGeom>
          <a:noFill/>
        </p:spPr>
        <p:txBody>
          <a:bodyPr wrap="square">
            <a:spAutoFit/>
          </a:bodyPr>
          <a:lstStyle/>
          <a:p>
            <a:pPr>
              <a:defRPr sz="1550" b="1">
                <a:solidFill>
                  <a:srgbClr val="0F172A"/>
                </a:solidFill>
              </a:defRPr>
            </a:pPr>
            <a:r>
              <a:t>Vendor-Neutral Test Intelligence Without Hallucinations</a:t>
            </a:r>
          </a:p>
          <a:p>
            <a:pPr>
              <a:spcBef>
                <a:spcPts val="800"/>
              </a:spcBef>
              <a:defRPr sz="1100" b="1">
                <a:solidFill>
                  <a:srgbClr val="2563EB"/>
                </a:solidFill>
              </a:defRPr>
            </a:pPr>
            <a:r>
              <a:t>🎯 Executive Value:</a:t>
            </a:r>
          </a:p>
          <a:p>
            <a:pPr>
              <a:spcBef>
                <a:spcPts val="600"/>
              </a:spcBef>
              <a:defRPr sz="1100">
                <a:solidFill>
                  <a:srgbClr val="1E293B"/>
                </a:solidFill>
              </a:defRPr>
            </a:pPr>
            <a:r>
              <a:t>✔ Model Freedom: Pluggable gateway supports Google Gemini 2.5 Flash, OpenAI GPT-4o, Anthropic Claude 3.5, or Local Ollama.</a:t>
            </a:r>
          </a:p>
          <a:p>
            <a:pPr>
              <a:spcBef>
                <a:spcPts val="600"/>
              </a:spcBef>
              <a:defRPr sz="1100">
                <a:solidFill>
                  <a:srgbClr val="1E293B"/>
                </a:solidFill>
              </a:defRPr>
            </a:pPr>
            <a:r>
              <a:t>✔ Zero Hallucination Guarantee: Prompts strictly grounded with elements from the discovered DOM registry.</a:t>
            </a:r>
          </a:p>
          <a:p>
            <a:pPr>
              <a:spcBef>
                <a:spcPts val="600"/>
              </a:spcBef>
              <a:defRPr sz="1100">
                <a:solidFill>
                  <a:srgbClr val="1E293B"/>
                </a:solidFill>
              </a:defRPr>
            </a:pPr>
            <a:r>
              <a:t>✔ Clean Code Synthesis: Emits standard Python + Playwright code; no proprietary runtime or vendor lock-in.</a:t>
            </a:r>
          </a:p>
          <a:p>
            <a:pPr>
              <a:spcBef>
                <a:spcPts val="600"/>
              </a:spcBef>
              <a:defRPr sz="1100">
                <a:solidFill>
                  <a:srgbClr val="1E293B"/>
                </a:solidFill>
              </a:defRPr>
            </a:pPr>
            <a:r>
              <a:t>✔ Editable Plan Staging: Review, reorder, or customize test scenarios and assertions before generating code.</a:t>
            </a:r>
          </a:p>
          <a:p>
            <a:pPr>
              <a:spcBef>
                <a:spcPts val="1200"/>
              </a:spcBef>
              <a:defRPr sz="1050" b="1">
                <a:solidFill>
                  <a:srgbClr val="10B981"/>
                </a:solidFill>
              </a:defRPr>
            </a:pPr>
            <a:r>
              <a:t>🛡 Enterprise Guarantee: Generated test files are 100% portable and run in any CI/CD pipeline via standard pytest CLI.</a:t>
            </a:r>
          </a:p>
        </p:txBody>
      </p:sp>
      <p:sp>
        <p:nvSpPr>
          <p:cNvPr id="6" name="Rounded Rectangle 5"/>
          <p:cNvSpPr/>
          <p:nvPr/>
        </p:nvSpPr>
        <p:spPr>
          <a:xfrm>
            <a:off x="5623560" y="1371600"/>
            <a:ext cx="5852160" cy="4572000"/>
          </a:xfrm>
          <a:prstGeom prst="roundRect">
            <a:avLst/>
          </a:prstGeom>
          <a:solidFill>
            <a:srgbClr val="0F172A"/>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7_ai_test_planning.png"/>
          <p:cNvPicPr>
            <a:picLocks noChangeAspect="1"/>
          </p:cNvPicPr>
          <p:nvPr/>
        </p:nvPicPr>
        <p:blipFill>
          <a:blip r:embed="rId2"/>
          <a:stretch>
            <a:fillRect/>
          </a:stretch>
        </p:blipFill>
        <p:spPr>
          <a:xfrm>
            <a:off x="5696712" y="1444752"/>
            <a:ext cx="5705856" cy="4425696"/>
          </a:xfrm>
          <a:prstGeom prst="rect">
            <a:avLst/>
          </a:prstGeom>
        </p:spPr>
      </p:pic>
      <p:sp>
        <p:nvSpPr>
          <p:cNvPr id="8" name="TextBox 7"/>
          <p:cNvSpPr txBox="1"/>
          <p:nvPr/>
        </p:nvSpPr>
        <p:spPr>
          <a:xfrm>
            <a:off x="5623560" y="6016752"/>
            <a:ext cx="5852160" cy="274320"/>
          </a:xfrm>
          <a:prstGeom prst="rect">
            <a:avLst/>
          </a:prstGeom>
          <a:noFill/>
        </p:spPr>
        <p:txBody>
          <a:bodyPr wrap="none">
            <a:spAutoFit/>
          </a:bodyPr>
          <a:lstStyle/>
          <a:p>
            <a:pPr>
              <a:defRPr sz="900" b="1">
                <a:solidFill>
                  <a:srgbClr val="64748B"/>
                </a:solidFill>
              </a:defRPr>
            </a:pPr>
            <a:r>
              <a:t>LIVE PLATFORM CAPTURE: LLM PROVIDER SELECTION, SCENARIO GENERATOR, AND EDITABLE TEST PLAN [1440x900 @ 2x HI-DPI]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563EB"/>
                </a:solidFill>
              </a:defRPr>
            </a:pPr>
            <a:r>
              <a:t>STEP 8 — TEST EXECUTION &amp; LIVE ASSERTIONS</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defRPr>
            </a:pPr>
            <a:r>
              <a:t>Step 8: Controlled Execution Engine &amp; Step Streaming</a:t>
            </a:r>
          </a:p>
        </p:txBody>
      </p:sp>
      <p:sp>
        <p:nvSpPr>
          <p:cNvPr id="4" name="Rounded Rectangle 3"/>
          <p:cNvSpPr/>
          <p:nvPr/>
        </p:nvSpPr>
        <p:spPr>
          <a:xfrm>
            <a:off x="731520" y="1371600"/>
            <a:ext cx="466344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00200"/>
            <a:ext cx="4206240" cy="4480560"/>
          </a:xfrm>
          <a:prstGeom prst="rect">
            <a:avLst/>
          </a:prstGeom>
          <a:noFill/>
        </p:spPr>
        <p:txBody>
          <a:bodyPr wrap="square">
            <a:spAutoFit/>
          </a:bodyPr>
          <a:lstStyle/>
          <a:p>
            <a:pPr>
              <a:defRPr sz="1550" b="1">
                <a:solidFill>
                  <a:srgbClr val="0F172A"/>
                </a:solidFill>
              </a:defRPr>
            </a:pPr>
            <a:r>
              <a:t>High-Speed Runner with Real-Time Assertion Streaming</a:t>
            </a:r>
          </a:p>
          <a:p>
            <a:pPr>
              <a:spcBef>
                <a:spcPts val="800"/>
              </a:spcBef>
              <a:defRPr sz="1100" b="1">
                <a:solidFill>
                  <a:srgbClr val="2563EB"/>
                </a:solidFill>
              </a:defRPr>
            </a:pPr>
            <a:r>
              <a:t>🎯 Executive Value:</a:t>
            </a:r>
          </a:p>
          <a:p>
            <a:pPr>
              <a:spcBef>
                <a:spcPts val="600"/>
              </a:spcBef>
              <a:defRPr sz="1100">
                <a:solidFill>
                  <a:srgbClr val="1E293B"/>
                </a:solidFill>
              </a:defRPr>
            </a:pPr>
            <a:r>
              <a:t>✔ Dual Execution Modes: Interactive headed browser for local visual debugging, or headless runner for CI/CD pipelines.</a:t>
            </a:r>
          </a:p>
          <a:p>
            <a:pPr>
              <a:spcBef>
                <a:spcPts val="600"/>
              </a:spcBef>
              <a:defRPr sz="1100">
                <a:solidFill>
                  <a:srgbClr val="1E293B"/>
                </a:solidFill>
              </a:defRPr>
            </a:pPr>
            <a:r>
              <a:t>✔ Live Step Streaming: Displays every action, locator click, text input, and assertion check with millisecond timestamps.</a:t>
            </a:r>
          </a:p>
          <a:p>
            <a:pPr>
              <a:spcBef>
                <a:spcPts val="600"/>
              </a:spcBef>
              <a:defRPr sz="1100">
                <a:solidFill>
                  <a:srgbClr val="1E293B"/>
                </a:solidFill>
              </a:defRPr>
            </a:pPr>
            <a:r>
              <a:t>✔ Browser Session Auto-Recovery: Closed browser targets automatically re-instantiate without aborting remaining test cases.</a:t>
            </a:r>
          </a:p>
          <a:p>
            <a:pPr>
              <a:spcBef>
                <a:spcPts val="600"/>
              </a:spcBef>
              <a:defRPr sz="1100">
                <a:solidFill>
                  <a:srgbClr val="1E293B"/>
                </a:solidFill>
              </a:defRPr>
            </a:pPr>
            <a:r>
              <a:t>✔ Stop-on-Failure Protection: Automatically pauses or stops execution upon unexpected application crashes.</a:t>
            </a:r>
          </a:p>
          <a:p>
            <a:pPr>
              <a:spcBef>
                <a:spcPts val="1200"/>
              </a:spcBef>
              <a:defRPr sz="1050" b="1">
                <a:solidFill>
                  <a:srgbClr val="10B981"/>
                </a:solidFill>
              </a:defRPr>
            </a:pPr>
            <a:r>
              <a:t>🛡 Enterprise Guarantee: Native Playwright event dispatching ensures zero timing flakiness and exact assertion reproducibility.</a:t>
            </a:r>
          </a:p>
        </p:txBody>
      </p:sp>
      <p:sp>
        <p:nvSpPr>
          <p:cNvPr id="6" name="Rounded Rectangle 5"/>
          <p:cNvSpPr/>
          <p:nvPr/>
        </p:nvSpPr>
        <p:spPr>
          <a:xfrm>
            <a:off x="5623560" y="1371600"/>
            <a:ext cx="5852160" cy="4572000"/>
          </a:xfrm>
          <a:prstGeom prst="roundRect">
            <a:avLst/>
          </a:prstGeom>
          <a:solidFill>
            <a:srgbClr val="0F172A"/>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8_controlled_execution.png"/>
          <p:cNvPicPr>
            <a:picLocks noChangeAspect="1"/>
          </p:cNvPicPr>
          <p:nvPr/>
        </p:nvPicPr>
        <p:blipFill>
          <a:blip r:embed="rId2"/>
          <a:stretch>
            <a:fillRect/>
          </a:stretch>
        </p:blipFill>
        <p:spPr>
          <a:xfrm>
            <a:off x="5696712" y="1444752"/>
            <a:ext cx="5705856" cy="4425696"/>
          </a:xfrm>
          <a:prstGeom prst="rect">
            <a:avLst/>
          </a:prstGeom>
        </p:spPr>
      </p:pic>
      <p:sp>
        <p:nvSpPr>
          <p:cNvPr id="8" name="TextBox 7"/>
          <p:cNvSpPr txBox="1"/>
          <p:nvPr/>
        </p:nvSpPr>
        <p:spPr>
          <a:xfrm>
            <a:off x="5623560" y="6016752"/>
            <a:ext cx="5852160" cy="274320"/>
          </a:xfrm>
          <a:prstGeom prst="rect">
            <a:avLst/>
          </a:prstGeom>
          <a:noFill/>
        </p:spPr>
        <p:txBody>
          <a:bodyPr wrap="none">
            <a:spAutoFit/>
          </a:bodyPr>
          <a:lstStyle/>
          <a:p>
            <a:pPr>
              <a:defRPr sz="900" b="1">
                <a:solidFill>
                  <a:srgbClr val="64748B"/>
                </a:solidFill>
              </a:defRPr>
            </a:pPr>
            <a:r>
              <a:t>LIVE PLATFORM CAPTURE: LIVE STEP EXECUTION LOG, PASS/FAIL INDICATORS, AND EXECUTION CONTROLS [1440x900 @ 2x HI-DPI]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563EB"/>
                </a:solidFill>
              </a:defRPr>
            </a:pPr>
            <a:r>
              <a:t>STEP 9 — AUDIT DOSSIERS &amp; COMPLIANCE REPORTING</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defRPr>
            </a:pPr>
            <a:r>
              <a:t>Step 9: Audit-Ready Test Artifacts &amp; 10-Sheet Workbook</a:t>
            </a:r>
          </a:p>
        </p:txBody>
      </p:sp>
      <p:sp>
        <p:nvSpPr>
          <p:cNvPr id="4" name="Rounded Rectangle 3"/>
          <p:cNvSpPr/>
          <p:nvPr/>
        </p:nvSpPr>
        <p:spPr>
          <a:xfrm>
            <a:off x="731520" y="1371600"/>
            <a:ext cx="466344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00200"/>
            <a:ext cx="4206240" cy="4480560"/>
          </a:xfrm>
          <a:prstGeom prst="rect">
            <a:avLst/>
          </a:prstGeom>
          <a:noFill/>
        </p:spPr>
        <p:txBody>
          <a:bodyPr wrap="square">
            <a:spAutoFit/>
          </a:bodyPr>
          <a:lstStyle/>
          <a:p>
            <a:pPr>
              <a:defRPr sz="1550" b="1">
                <a:solidFill>
                  <a:srgbClr val="0F172A"/>
                </a:solidFill>
              </a:defRPr>
            </a:pPr>
            <a:r>
              <a:t>Multi-Format Audit Dossiers &amp; Step-by-Step Screenshot Evidence</a:t>
            </a:r>
          </a:p>
          <a:p>
            <a:pPr>
              <a:spcBef>
                <a:spcPts val="800"/>
              </a:spcBef>
              <a:defRPr sz="1100" b="1">
                <a:solidFill>
                  <a:srgbClr val="2563EB"/>
                </a:solidFill>
              </a:defRPr>
            </a:pPr>
            <a:r>
              <a:t>🎯 Executive Value:</a:t>
            </a:r>
          </a:p>
          <a:p>
            <a:pPr>
              <a:spcBef>
                <a:spcPts val="600"/>
              </a:spcBef>
              <a:defRPr sz="1100">
                <a:solidFill>
                  <a:srgbClr val="1E293B"/>
                </a:solidFill>
              </a:defRPr>
            </a:pPr>
            <a:r>
              <a:t>✔ 10-Sheet Excel Workbook: Complete technical audit artifact detailing execution summary, route inventory, and security findings.</a:t>
            </a:r>
          </a:p>
          <a:p>
            <a:pPr>
              <a:spcBef>
                <a:spcPts val="600"/>
              </a:spcBef>
              <a:defRPr sz="1100">
                <a:solidFill>
                  <a:srgbClr val="1E293B"/>
                </a:solidFill>
              </a:defRPr>
            </a:pPr>
            <a:r>
              <a:t>✔ CI/CD Integration: Generates standard JUnit XML and JSON summaries compatible with GitHub Actions, GitLab, and Jenkins.</a:t>
            </a:r>
          </a:p>
          <a:p>
            <a:pPr>
              <a:spcBef>
                <a:spcPts val="600"/>
              </a:spcBef>
              <a:defRPr sz="1100">
                <a:solidFill>
                  <a:srgbClr val="1E293B"/>
                </a:solidFill>
              </a:defRPr>
            </a:pPr>
            <a:r>
              <a:t>✔ Executive HTML Dossier: Standalone interactive report shareable with compliance officers and VP Engineering.</a:t>
            </a:r>
          </a:p>
          <a:p>
            <a:pPr>
              <a:spcBef>
                <a:spcPts val="600"/>
              </a:spcBef>
              <a:defRPr sz="1100">
                <a:solidFill>
                  <a:srgbClr val="1E293B"/>
                </a:solidFill>
              </a:defRPr>
            </a:pPr>
            <a:r>
              <a:t>✔ Forensic Screenshot Capture: Full-page screen captures recorded for every executed assertion and failure point.</a:t>
            </a:r>
          </a:p>
          <a:p>
            <a:pPr>
              <a:spcBef>
                <a:spcPts val="1200"/>
              </a:spcBef>
              <a:defRPr sz="1050" b="1">
                <a:solidFill>
                  <a:srgbClr val="10B981"/>
                </a:solidFill>
              </a:defRPr>
            </a:pPr>
            <a:r>
              <a:t>🛡 Enterprise Guarantee: Audit-ready compliance artifacts suitable for SOC2, ISO 27001, and HIPAA enterprise regulatory reviews.</a:t>
            </a:r>
          </a:p>
        </p:txBody>
      </p:sp>
      <p:sp>
        <p:nvSpPr>
          <p:cNvPr id="6" name="Rounded Rectangle 5"/>
          <p:cNvSpPr/>
          <p:nvPr/>
        </p:nvSpPr>
        <p:spPr>
          <a:xfrm>
            <a:off x="5623560" y="1371600"/>
            <a:ext cx="5852160" cy="4572000"/>
          </a:xfrm>
          <a:prstGeom prst="roundRect">
            <a:avLst/>
          </a:prstGeom>
          <a:solidFill>
            <a:srgbClr val="0F172A"/>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9_audit_reports.png"/>
          <p:cNvPicPr>
            <a:picLocks noChangeAspect="1"/>
          </p:cNvPicPr>
          <p:nvPr/>
        </p:nvPicPr>
        <p:blipFill>
          <a:blip r:embed="rId2"/>
          <a:stretch>
            <a:fillRect/>
          </a:stretch>
        </p:blipFill>
        <p:spPr>
          <a:xfrm>
            <a:off x="5696712" y="1444752"/>
            <a:ext cx="5705856" cy="4425696"/>
          </a:xfrm>
          <a:prstGeom prst="rect">
            <a:avLst/>
          </a:prstGeom>
        </p:spPr>
      </p:pic>
      <p:sp>
        <p:nvSpPr>
          <p:cNvPr id="8" name="TextBox 7"/>
          <p:cNvSpPr txBox="1"/>
          <p:nvPr/>
        </p:nvSpPr>
        <p:spPr>
          <a:xfrm>
            <a:off x="5623560" y="6016752"/>
            <a:ext cx="5852160" cy="274320"/>
          </a:xfrm>
          <a:prstGeom prst="rect">
            <a:avLst/>
          </a:prstGeom>
          <a:noFill/>
        </p:spPr>
        <p:txBody>
          <a:bodyPr wrap="none">
            <a:spAutoFit/>
          </a:bodyPr>
          <a:lstStyle/>
          <a:p>
            <a:pPr>
              <a:defRPr sz="900" b="1">
                <a:solidFill>
                  <a:srgbClr val="64748B"/>
                </a:solidFill>
              </a:defRPr>
            </a:pPr>
            <a:r>
              <a:t>LIVE PLATFORM CAPTURE: EXECUTIVE REPORT SUMMARY CARDS, ARTIFACT DOWNLOAD LINKS, AND METRICS [1440x900 @ 2x HI-DPI]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563EB"/>
                </a:solidFill>
              </a:defRPr>
            </a:pPr>
            <a:r>
              <a:t>ENTERPRISE PERSISTENCE &amp; FAULT TOLERANCE</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defRPr>
            </a:pPr>
            <a:r>
              <a:t>Auxiliary Dashboard: Saved Runs &amp; Checkpoint Recovery</a:t>
            </a:r>
          </a:p>
        </p:txBody>
      </p:sp>
      <p:sp>
        <p:nvSpPr>
          <p:cNvPr id="4" name="Rounded Rectangle 3"/>
          <p:cNvSpPr/>
          <p:nvPr/>
        </p:nvSpPr>
        <p:spPr>
          <a:xfrm>
            <a:off x="731520" y="1371600"/>
            <a:ext cx="466344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00200"/>
            <a:ext cx="4206240" cy="4480560"/>
          </a:xfrm>
          <a:prstGeom prst="rect">
            <a:avLst/>
          </a:prstGeom>
          <a:noFill/>
        </p:spPr>
        <p:txBody>
          <a:bodyPr wrap="square">
            <a:spAutoFit/>
          </a:bodyPr>
          <a:lstStyle/>
          <a:p>
            <a:pPr>
              <a:defRPr sz="1550" b="1">
                <a:solidFill>
                  <a:srgbClr val="0F172A"/>
                </a:solidFill>
              </a:defRPr>
            </a:pPr>
            <a:r>
              <a:t>Transactional State Persistence on SQLite &amp; PostgreSQL</a:t>
            </a:r>
          </a:p>
          <a:p>
            <a:pPr>
              <a:spcBef>
                <a:spcPts val="800"/>
              </a:spcBef>
              <a:defRPr sz="1100" b="1">
                <a:solidFill>
                  <a:srgbClr val="2563EB"/>
                </a:solidFill>
              </a:defRPr>
            </a:pPr>
            <a:r>
              <a:t>🎯 Executive Value:</a:t>
            </a:r>
          </a:p>
          <a:p>
            <a:pPr>
              <a:spcBef>
                <a:spcPts val="600"/>
              </a:spcBef>
              <a:defRPr sz="1100">
                <a:solidFill>
                  <a:srgbClr val="1E293B"/>
                </a:solidFill>
              </a:defRPr>
            </a:pPr>
            <a:r>
              <a:t>✔ Multi-Engine Relational Storage: Full persistence of all runs, routes, element catalogs, test suites, and audit logs.</a:t>
            </a:r>
          </a:p>
          <a:p>
            <a:pPr>
              <a:spcBef>
                <a:spcPts val="600"/>
              </a:spcBef>
              <a:defRPr sz="1100">
                <a:solidFill>
                  <a:srgbClr val="1E293B"/>
                </a:solidFill>
              </a:defRPr>
            </a:pPr>
            <a:r>
              <a:t>✔ One-Click Checkpoint Resume: Resume an interrupted 2-hour scan from its exact recorded state without re-running.</a:t>
            </a:r>
          </a:p>
          <a:p>
            <a:pPr>
              <a:spcBef>
                <a:spcPts val="600"/>
              </a:spcBef>
              <a:defRPr sz="1100">
                <a:solidFill>
                  <a:srgbClr val="1E293B"/>
                </a:solidFill>
              </a:defRPr>
            </a:pPr>
            <a:r>
              <a:t>✔ Typed Confirmation Guard: Destructive operations require typing 'DELETE' to prevent accidental test artifact loss.</a:t>
            </a:r>
          </a:p>
          <a:p>
            <a:pPr>
              <a:spcBef>
                <a:spcPts val="600"/>
              </a:spcBef>
              <a:defRPr sz="1100">
                <a:solidFill>
                  <a:srgbClr val="1E293B"/>
                </a:solidFill>
              </a:defRPr>
            </a:pPr>
            <a:r>
              <a:t>✔ Multi-Process Database Locking: Safe transactional concurrency prevents run context corruption.</a:t>
            </a:r>
          </a:p>
          <a:p>
            <a:pPr>
              <a:spcBef>
                <a:spcPts val="1200"/>
              </a:spcBef>
              <a:defRPr sz="1050" b="1">
                <a:solidFill>
                  <a:srgbClr val="10B981"/>
                </a:solidFill>
              </a:defRPr>
            </a:pPr>
            <a:r>
              <a:t>🛡 Enterprise Guarantee: Complete historical scan and test execution audit trail retained indefinitely in enterprise database.</a:t>
            </a:r>
          </a:p>
        </p:txBody>
      </p:sp>
      <p:sp>
        <p:nvSpPr>
          <p:cNvPr id="6" name="Rounded Rectangle 5"/>
          <p:cNvSpPr/>
          <p:nvPr/>
        </p:nvSpPr>
        <p:spPr>
          <a:xfrm>
            <a:off x="5623560" y="1371600"/>
            <a:ext cx="5852160" cy="4572000"/>
          </a:xfrm>
          <a:prstGeom prst="roundRect">
            <a:avLst/>
          </a:prstGeom>
          <a:solidFill>
            <a:srgbClr val="0F172A"/>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0_saved_runs_dashboard.png"/>
          <p:cNvPicPr>
            <a:picLocks noChangeAspect="1"/>
          </p:cNvPicPr>
          <p:nvPr/>
        </p:nvPicPr>
        <p:blipFill>
          <a:blip r:embed="rId2"/>
          <a:stretch>
            <a:fillRect/>
          </a:stretch>
        </p:blipFill>
        <p:spPr>
          <a:xfrm>
            <a:off x="5696712" y="1444752"/>
            <a:ext cx="5705856" cy="4425696"/>
          </a:xfrm>
          <a:prstGeom prst="rect">
            <a:avLst/>
          </a:prstGeom>
        </p:spPr>
      </p:pic>
      <p:sp>
        <p:nvSpPr>
          <p:cNvPr id="8" name="TextBox 7"/>
          <p:cNvSpPr txBox="1"/>
          <p:nvPr/>
        </p:nvSpPr>
        <p:spPr>
          <a:xfrm>
            <a:off x="5623560" y="6016752"/>
            <a:ext cx="5852160" cy="274320"/>
          </a:xfrm>
          <a:prstGeom prst="rect">
            <a:avLst/>
          </a:prstGeom>
          <a:noFill/>
        </p:spPr>
        <p:txBody>
          <a:bodyPr wrap="none">
            <a:spAutoFit/>
          </a:bodyPr>
          <a:lstStyle/>
          <a:p>
            <a:pPr>
              <a:defRPr sz="900" b="1">
                <a:solidFill>
                  <a:srgbClr val="64748B"/>
                </a:solidFill>
              </a:defRPr>
            </a:pPr>
            <a:r>
              <a:t>LIVE PLATFORM CAPTURE: SAVED RUNS TABLE, RESUME ACTIONS, AND TYPED DELETE CONFIRMATION MODAL [1440x900 @ 2x HI-DPI]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563EB"/>
                </a:solidFill>
              </a:defRPr>
            </a:pPr>
            <a:r>
              <a:t>CONTINUOUS TESTING &amp; VISUAL DRIFT DETECTION</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defRPr>
            </a:pPr>
            <a:r>
              <a:t>Auxiliary Dashboard: Regression Suites &amp; Visual Baselines</a:t>
            </a:r>
          </a:p>
        </p:txBody>
      </p:sp>
      <p:sp>
        <p:nvSpPr>
          <p:cNvPr id="4" name="Rounded Rectangle 3"/>
          <p:cNvSpPr/>
          <p:nvPr/>
        </p:nvSpPr>
        <p:spPr>
          <a:xfrm>
            <a:off x="731520" y="1371600"/>
            <a:ext cx="466344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00200"/>
            <a:ext cx="4206240" cy="4480560"/>
          </a:xfrm>
          <a:prstGeom prst="rect">
            <a:avLst/>
          </a:prstGeom>
          <a:noFill/>
        </p:spPr>
        <p:txBody>
          <a:bodyPr wrap="square">
            <a:spAutoFit/>
          </a:bodyPr>
          <a:lstStyle/>
          <a:p>
            <a:pPr>
              <a:defRPr sz="1550" b="1">
                <a:solidFill>
                  <a:srgbClr val="0F172A"/>
                </a:solidFill>
              </a:defRPr>
            </a:pPr>
            <a:r>
              <a:t>Multi-Suite Bundling &amp; Perceptual Diff Baselines</a:t>
            </a:r>
          </a:p>
          <a:p>
            <a:pPr>
              <a:spcBef>
                <a:spcPts val="800"/>
              </a:spcBef>
              <a:defRPr sz="1100" b="1">
                <a:solidFill>
                  <a:srgbClr val="2563EB"/>
                </a:solidFill>
              </a:defRPr>
            </a:pPr>
            <a:r>
              <a:t>🎯 Executive Value:</a:t>
            </a:r>
          </a:p>
          <a:p>
            <a:pPr>
              <a:spcBef>
                <a:spcPts val="600"/>
              </a:spcBef>
              <a:defRPr sz="1100">
                <a:solidFill>
                  <a:srgbClr val="1E293B"/>
                </a:solidFill>
              </a:defRPr>
            </a:pPr>
            <a:r>
              <a:t>✔ Suite Bundling: Group multiple functional test suites into scheduled regression sets (e.g. Daily Smoke, P0 Critical Path).</a:t>
            </a:r>
          </a:p>
          <a:p>
            <a:pPr>
              <a:spcBef>
                <a:spcPts val="600"/>
              </a:spcBef>
              <a:defRPr sz="1100">
                <a:solidFill>
                  <a:srgbClr val="1E293B"/>
                </a:solidFill>
              </a:defRPr>
            </a:pPr>
            <a:r>
              <a:t>✔ Visual Perceptual Diffing: Detects subtle CSS shifts, font drops, and visual layout breakage against golden baselines.</a:t>
            </a:r>
          </a:p>
          <a:p>
            <a:pPr>
              <a:spcBef>
                <a:spcPts val="600"/>
              </a:spcBef>
              <a:defRPr sz="1100">
                <a:solidFill>
                  <a:srgbClr val="1E293B"/>
                </a:solidFill>
              </a:defRPr>
            </a:pPr>
            <a:r>
              <a:t>✔ Historical Drift Tracking: Compares test timing, memory footprint, and pass rates across sequential software builds.</a:t>
            </a:r>
          </a:p>
          <a:p>
            <a:pPr>
              <a:spcBef>
                <a:spcPts val="600"/>
              </a:spcBef>
              <a:defRPr sz="1100">
                <a:solidFill>
                  <a:srgbClr val="1E293B"/>
                </a:solidFill>
              </a:defRPr>
            </a:pPr>
            <a:r>
              <a:t>✔ Baseline Management: Promote approved UI changes to the new golden baseline with single-click operator approval.</a:t>
            </a:r>
          </a:p>
          <a:p>
            <a:pPr>
              <a:spcBef>
                <a:spcPts val="1200"/>
              </a:spcBef>
              <a:defRPr sz="1050" b="1">
                <a:solidFill>
                  <a:srgbClr val="10B981"/>
                </a:solidFill>
              </a:defRPr>
            </a:pPr>
            <a:r>
              <a:t>🛡 Enterprise Guarantee: Zero undetected visual or functional UI regressions reaching customer-facing production environments.</a:t>
            </a:r>
          </a:p>
        </p:txBody>
      </p:sp>
      <p:sp>
        <p:nvSpPr>
          <p:cNvPr id="6" name="Rounded Rectangle 5"/>
          <p:cNvSpPr/>
          <p:nvPr/>
        </p:nvSpPr>
        <p:spPr>
          <a:xfrm>
            <a:off x="5623560" y="1371600"/>
            <a:ext cx="5852160" cy="4572000"/>
          </a:xfrm>
          <a:prstGeom prst="roundRect">
            <a:avLst/>
          </a:prstGeom>
          <a:solidFill>
            <a:srgbClr val="0F172A"/>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1_regression_suites.png"/>
          <p:cNvPicPr>
            <a:picLocks noChangeAspect="1"/>
          </p:cNvPicPr>
          <p:nvPr/>
        </p:nvPicPr>
        <p:blipFill>
          <a:blip r:embed="rId2"/>
          <a:stretch>
            <a:fillRect/>
          </a:stretch>
        </p:blipFill>
        <p:spPr>
          <a:xfrm>
            <a:off x="5696712" y="1444752"/>
            <a:ext cx="5705856" cy="4425696"/>
          </a:xfrm>
          <a:prstGeom prst="rect">
            <a:avLst/>
          </a:prstGeom>
        </p:spPr>
      </p:pic>
      <p:sp>
        <p:nvSpPr>
          <p:cNvPr id="8" name="TextBox 7"/>
          <p:cNvSpPr txBox="1"/>
          <p:nvPr/>
        </p:nvSpPr>
        <p:spPr>
          <a:xfrm>
            <a:off x="5623560" y="6016752"/>
            <a:ext cx="5852160" cy="274320"/>
          </a:xfrm>
          <a:prstGeom prst="rect">
            <a:avLst/>
          </a:prstGeom>
          <a:noFill/>
        </p:spPr>
        <p:txBody>
          <a:bodyPr wrap="none">
            <a:spAutoFit/>
          </a:bodyPr>
          <a:lstStyle/>
          <a:p>
            <a:pPr>
              <a:defRPr sz="900" b="1">
                <a:solidFill>
                  <a:srgbClr val="64748B"/>
                </a:solidFill>
              </a:defRPr>
            </a:pPr>
            <a:r>
              <a:t>LIVE PLATFORM CAPTURE: REGRESSION SUITE MANAGER, VISUAL BASELINE COMPARISON, AND DIFF VIEWER [1440x900 @ 2x HI-DPI]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563EB"/>
                </a:solidFill>
              </a:defRPr>
            </a:pPr>
            <a:r>
              <a:t>PERSISTENCE LAYER SPECIFICATION (SQLALCHEMY ORM)</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defRPr>
            </a:pPr>
            <a:r>
              <a:t>Enterprise Data Architecture &amp; Relational Schema</a:t>
            </a:r>
          </a:p>
        </p:txBody>
      </p:sp>
      <p:graphicFrame>
        <p:nvGraphicFramePr>
          <p:cNvPr id="4" name="Table 3"/>
          <p:cNvGraphicFramePr>
            <a:graphicFrameLocks noGrp="1"/>
          </p:cNvGraphicFramePr>
          <p:nvPr/>
        </p:nvGraphicFramePr>
        <p:xfrm>
          <a:off x="731520" y="1371600"/>
          <a:ext cx="10698480" cy="2926080"/>
        </p:xfrm>
        <a:graphic>
          <a:graphicData uri="http://schemas.openxmlformats.org/drawingml/2006/table">
            <a:tbl>
              <a:tblPr firstRow="1" bandRow="1">
                <a:tableStyleId>{5C22544A-7EE6-4342-B048-85BDC9FD1C3A}</a:tableStyleId>
              </a:tblPr>
              <a:tblGrid>
                <a:gridCol w="1828800"/>
                <a:gridCol w="4114800"/>
                <a:gridCol w="2011680"/>
                <a:gridCol w="2743200"/>
              </a:tblGrid>
              <a:tr h="418011">
                <a:tc>
                  <a:txBody>
                    <a:bodyPr/>
                    <a:lstStyle/>
                    <a:p>
                      <a:pPr algn="l">
                        <a:defRPr sz="1100" b="1">
                          <a:solidFill>
                            <a:srgbClr val="FFFFFF"/>
                          </a:solidFill>
                        </a:defRPr>
                      </a:pPr>
                      <a:r>
                        <a:t>Entity Name</a:t>
                      </a:r>
                    </a:p>
                  </a:txBody>
                  <a:tcPr anchor="ctr">
                    <a:solidFill>
                      <a:srgbClr val="0F172A"/>
                    </a:solidFill>
                  </a:tcPr>
                </a:tc>
                <a:tc>
                  <a:txBody>
                    <a:bodyPr/>
                    <a:lstStyle/>
                    <a:p>
                      <a:pPr algn="l">
                        <a:defRPr sz="1100" b="1">
                          <a:solidFill>
                            <a:srgbClr val="FFFFFF"/>
                          </a:solidFill>
                        </a:defRPr>
                      </a:pPr>
                      <a:r>
                        <a:t>Key Attributes</a:t>
                      </a:r>
                    </a:p>
                  </a:txBody>
                  <a:tcPr anchor="ctr">
                    <a:solidFill>
                      <a:srgbClr val="0F172A"/>
                    </a:solidFill>
                  </a:tcPr>
                </a:tc>
                <a:tc>
                  <a:txBody>
                    <a:bodyPr/>
                    <a:lstStyle/>
                    <a:p>
                      <a:pPr algn="l">
                        <a:defRPr sz="1100" b="1">
                          <a:solidFill>
                            <a:srgbClr val="FFFFFF"/>
                          </a:solidFill>
                        </a:defRPr>
                      </a:pPr>
                      <a:r>
                        <a:t>Relational Mapping</a:t>
                      </a:r>
                    </a:p>
                  </a:txBody>
                  <a:tcPr anchor="ctr">
                    <a:solidFill>
                      <a:srgbClr val="0F172A"/>
                    </a:solidFill>
                  </a:tcPr>
                </a:tc>
                <a:tc>
                  <a:txBody>
                    <a:bodyPr/>
                    <a:lstStyle/>
                    <a:p>
                      <a:pPr algn="l">
                        <a:defRPr sz="1100" b="1">
                          <a:solidFill>
                            <a:srgbClr val="FFFFFF"/>
                          </a:solidFill>
                        </a:defRPr>
                      </a:pPr>
                      <a:r>
                        <a:t>Enterprise Purpose</a:t>
                      </a:r>
                    </a:p>
                  </a:txBody>
                  <a:tcPr anchor="ctr">
                    <a:solidFill>
                      <a:srgbClr val="0F172A"/>
                    </a:solidFill>
                  </a:tcPr>
                </a:tc>
              </a:tr>
              <a:tr h="418011">
                <a:tc>
                  <a:txBody>
                    <a:bodyPr/>
                    <a:lstStyle/>
                    <a:p>
                      <a:pPr>
                        <a:defRPr sz="1000" b="1">
                          <a:solidFill>
                            <a:srgbClr val="2563EB"/>
                          </a:solidFill>
                        </a:defRPr>
                      </a:pPr>
                      <a:r>
                        <a:t>RunContext</a:t>
                      </a:r>
                    </a:p>
                  </a:txBody>
                  <a:tcPr anchor="ctr">
                    <a:solidFill>
                      <a:srgbClr val="FFFFFF"/>
                    </a:solidFill>
                  </a:tcPr>
                </a:tc>
                <a:tc>
                  <a:txBody>
                    <a:bodyPr/>
                    <a:lstStyle/>
                    <a:p>
                      <a:pPr>
                        <a:defRPr sz="1000">
                          <a:solidFill>
                            <a:srgbClr val="1E293B"/>
                          </a:solidFill>
                        </a:defRPr>
                      </a:pPr>
                      <a:r>
                        <a:t>run_id, target_url, status, checkpoint, created_at</a:t>
                      </a:r>
                    </a:p>
                  </a:txBody>
                  <a:tcPr anchor="ctr">
                    <a:solidFill>
                      <a:srgbClr val="FFFFFF"/>
                    </a:solidFill>
                  </a:tcPr>
                </a:tc>
                <a:tc>
                  <a:txBody>
                    <a:bodyPr/>
                    <a:lstStyle/>
                    <a:p>
                      <a:pPr>
                        <a:defRPr sz="1000">
                          <a:solidFill>
                            <a:srgbClr val="1E293B"/>
                          </a:solidFill>
                        </a:defRPr>
                      </a:pPr>
                      <a:r>
                        <a:t>1:N Routes, 1:N Suites</a:t>
                      </a:r>
                    </a:p>
                  </a:txBody>
                  <a:tcPr anchor="ctr">
                    <a:solidFill>
                      <a:srgbClr val="FFFFFF"/>
                    </a:solidFill>
                  </a:tcPr>
                </a:tc>
                <a:tc>
                  <a:txBody>
                    <a:bodyPr/>
                    <a:lstStyle/>
                    <a:p>
                      <a:pPr>
                        <a:defRPr sz="1000">
                          <a:solidFill>
                            <a:srgbClr val="1E293B"/>
                          </a:solidFill>
                        </a:defRPr>
                      </a:pPr>
                      <a:r>
                        <a:t>Top-level scan lifecycle &amp; checkpoint pointer</a:t>
                      </a:r>
                    </a:p>
                  </a:txBody>
                  <a:tcPr anchor="ctr">
                    <a:solidFill>
                      <a:srgbClr val="FFFFFF"/>
                    </a:solidFill>
                  </a:tcPr>
                </a:tc>
              </a:tr>
              <a:tr h="418011">
                <a:tc>
                  <a:txBody>
                    <a:bodyPr/>
                    <a:lstStyle/>
                    <a:p>
                      <a:pPr>
                        <a:defRPr sz="1000" b="1">
                          <a:solidFill>
                            <a:srgbClr val="2563EB"/>
                          </a:solidFill>
                        </a:defRPr>
                      </a:pPr>
                      <a:r>
                        <a:t>DiscoveredRoute</a:t>
                      </a:r>
                    </a:p>
                  </a:txBody>
                  <a:tcPr anchor="ctr">
                    <a:solidFill>
                      <a:srgbClr val="F1F5F9"/>
                    </a:solidFill>
                  </a:tcPr>
                </a:tc>
                <a:tc>
                  <a:txBody>
                    <a:bodyPr/>
                    <a:lstStyle/>
                    <a:p>
                      <a:pPr>
                        <a:defRPr sz="1000">
                          <a:solidFill>
                            <a:srgbClr val="1E293B"/>
                          </a:solidFill>
                        </a:defRPr>
                      </a:pPr>
                      <a:r>
                        <a:t>route_id, run_id, path, http_status, classification</a:t>
                      </a:r>
                    </a:p>
                  </a:txBody>
                  <a:tcPr anchor="ctr">
                    <a:solidFill>
                      <a:srgbClr val="F1F5F9"/>
                    </a:solidFill>
                  </a:tcPr>
                </a:tc>
                <a:tc>
                  <a:txBody>
                    <a:bodyPr/>
                    <a:lstStyle/>
                    <a:p>
                      <a:pPr>
                        <a:defRPr sz="1000">
                          <a:solidFill>
                            <a:srgbClr val="1E293B"/>
                          </a:solidFill>
                        </a:defRPr>
                      </a:pPr>
                      <a:r>
                        <a:t>N:1 RunContext, 1:N Elements</a:t>
                      </a:r>
                    </a:p>
                  </a:txBody>
                  <a:tcPr anchor="ctr">
                    <a:solidFill>
                      <a:srgbClr val="F1F5F9"/>
                    </a:solidFill>
                  </a:tcPr>
                </a:tc>
                <a:tc>
                  <a:txBody>
                    <a:bodyPr/>
                    <a:lstStyle/>
                    <a:p>
                      <a:pPr>
                        <a:defRPr sz="1000">
                          <a:solidFill>
                            <a:srgbClr val="1E293B"/>
                          </a:solidFill>
                        </a:defRPr>
                      </a:pPr>
                      <a:r>
                        <a:t>Inventory of all crawled application pages</a:t>
                      </a:r>
                    </a:p>
                  </a:txBody>
                  <a:tcPr anchor="ctr">
                    <a:solidFill>
                      <a:srgbClr val="F1F5F9"/>
                    </a:solidFill>
                  </a:tcPr>
                </a:tc>
              </a:tr>
              <a:tr h="418011">
                <a:tc>
                  <a:txBody>
                    <a:bodyPr/>
                    <a:lstStyle/>
                    <a:p>
                      <a:pPr>
                        <a:defRPr sz="1000" b="1">
                          <a:solidFill>
                            <a:srgbClr val="2563EB"/>
                          </a:solidFill>
                        </a:defRPr>
                      </a:pPr>
                      <a:r>
                        <a:t>ElementRegistry</a:t>
                      </a:r>
                    </a:p>
                  </a:txBody>
                  <a:tcPr anchor="ctr">
                    <a:solidFill>
                      <a:srgbClr val="FFFFFF"/>
                    </a:solidFill>
                  </a:tcPr>
                </a:tc>
                <a:tc>
                  <a:txBody>
                    <a:bodyPr/>
                    <a:lstStyle/>
                    <a:p>
                      <a:pPr>
                        <a:defRPr sz="1000">
                          <a:solidFill>
                            <a:srgbClr val="1E293B"/>
                          </a:solidFill>
                        </a:defRPr>
                      </a:pPr>
                      <a:r>
                        <a:t>element_id, route_id, role, selector_score, bbox</a:t>
                      </a:r>
                    </a:p>
                  </a:txBody>
                  <a:tcPr anchor="ctr">
                    <a:solidFill>
                      <a:srgbClr val="FFFFFF"/>
                    </a:solidFill>
                  </a:tcPr>
                </a:tc>
                <a:tc>
                  <a:txBody>
                    <a:bodyPr/>
                    <a:lstStyle/>
                    <a:p>
                      <a:pPr>
                        <a:defRPr sz="1000">
                          <a:solidFill>
                            <a:srgbClr val="1E293B"/>
                          </a:solidFill>
                        </a:defRPr>
                      </a:pPr>
                      <a:r>
                        <a:t>N:1 DiscoveredRoute</a:t>
                      </a:r>
                    </a:p>
                  </a:txBody>
                  <a:tcPr anchor="ctr">
                    <a:solidFill>
                      <a:srgbClr val="FFFFFF"/>
                    </a:solidFill>
                  </a:tcPr>
                </a:tc>
                <a:tc>
                  <a:txBody>
                    <a:bodyPr/>
                    <a:lstStyle/>
                    <a:p>
                      <a:pPr>
                        <a:defRPr sz="1000">
                          <a:solidFill>
                            <a:srgbClr val="1E293B"/>
                          </a:solidFill>
                        </a:defRPr>
                      </a:pPr>
                      <a:r>
                        <a:t>12-attribute self-healing element registry</a:t>
                      </a:r>
                    </a:p>
                  </a:txBody>
                  <a:tcPr anchor="ctr">
                    <a:solidFill>
                      <a:srgbClr val="FFFFFF"/>
                    </a:solidFill>
                  </a:tcPr>
                </a:tc>
              </a:tr>
              <a:tr h="418011">
                <a:tc>
                  <a:txBody>
                    <a:bodyPr/>
                    <a:lstStyle/>
                    <a:p>
                      <a:pPr>
                        <a:defRPr sz="1000" b="1">
                          <a:solidFill>
                            <a:srgbClr val="2563EB"/>
                          </a:solidFill>
                        </a:defRPr>
                      </a:pPr>
                      <a:r>
                        <a:t>RegressionSuite</a:t>
                      </a:r>
                    </a:p>
                  </a:txBody>
                  <a:tcPr anchor="ctr">
                    <a:solidFill>
                      <a:srgbClr val="F1F5F9"/>
                    </a:solidFill>
                  </a:tcPr>
                </a:tc>
                <a:tc>
                  <a:txBody>
                    <a:bodyPr/>
                    <a:lstStyle/>
                    <a:p>
                      <a:pPr>
                        <a:defRPr sz="1000">
                          <a:solidFill>
                            <a:srgbClr val="1E293B"/>
                          </a:solidFill>
                        </a:defRPr>
                      </a:pPr>
                      <a:r>
                        <a:t>suite_id, name, run_id, test_case_count, status</a:t>
                      </a:r>
                    </a:p>
                  </a:txBody>
                  <a:tcPr anchor="ctr">
                    <a:solidFill>
                      <a:srgbClr val="F1F5F9"/>
                    </a:solidFill>
                  </a:tcPr>
                </a:tc>
                <a:tc>
                  <a:txBody>
                    <a:bodyPr/>
                    <a:lstStyle/>
                    <a:p>
                      <a:pPr>
                        <a:defRPr sz="1000">
                          <a:solidFill>
                            <a:srgbClr val="1E293B"/>
                          </a:solidFill>
                        </a:defRPr>
                      </a:pPr>
                      <a:r>
                        <a:t>1:N TestCases, 1:1 Baseline</a:t>
                      </a:r>
                    </a:p>
                  </a:txBody>
                  <a:tcPr anchor="ctr">
                    <a:solidFill>
                      <a:srgbClr val="F1F5F9"/>
                    </a:solidFill>
                  </a:tcPr>
                </a:tc>
                <a:tc>
                  <a:txBody>
                    <a:bodyPr/>
                    <a:lstStyle/>
                    <a:p>
                      <a:pPr>
                        <a:defRPr sz="1000">
                          <a:solidFill>
                            <a:srgbClr val="1E293B"/>
                          </a:solidFill>
                        </a:defRPr>
                      </a:pPr>
                      <a:r>
                        <a:t>Named bundle of test scenarios for CI/CD runs</a:t>
                      </a:r>
                    </a:p>
                  </a:txBody>
                  <a:tcPr anchor="ctr">
                    <a:solidFill>
                      <a:srgbClr val="F1F5F9"/>
                    </a:solidFill>
                  </a:tcPr>
                </a:tc>
              </a:tr>
              <a:tr h="418011">
                <a:tc>
                  <a:txBody>
                    <a:bodyPr/>
                    <a:lstStyle/>
                    <a:p>
                      <a:pPr>
                        <a:defRPr sz="1000" b="1">
                          <a:solidFill>
                            <a:srgbClr val="2563EB"/>
                          </a:solidFill>
                        </a:defRPr>
                      </a:pPr>
                      <a:r>
                        <a:t>SecurityFinding</a:t>
                      </a:r>
                    </a:p>
                  </a:txBody>
                  <a:tcPr anchor="ctr">
                    <a:solidFill>
                      <a:srgbClr val="FFFFFF"/>
                    </a:solidFill>
                  </a:tcPr>
                </a:tc>
                <a:tc>
                  <a:txBody>
                    <a:bodyPr/>
                    <a:lstStyle/>
                    <a:p>
                      <a:pPr>
                        <a:defRPr sz="1000">
                          <a:solidFill>
                            <a:srgbClr val="1E293B"/>
                          </a:solidFill>
                        </a:defRPr>
                      </a:pPr>
                      <a:r>
                        <a:t>finding_id, run_id, owasp_category, severity, url</a:t>
                      </a:r>
                    </a:p>
                  </a:txBody>
                  <a:tcPr anchor="ctr">
                    <a:solidFill>
                      <a:srgbClr val="FFFFFF"/>
                    </a:solidFill>
                  </a:tcPr>
                </a:tc>
                <a:tc>
                  <a:txBody>
                    <a:bodyPr/>
                    <a:lstStyle/>
                    <a:p>
                      <a:pPr>
                        <a:defRPr sz="1000">
                          <a:solidFill>
                            <a:srgbClr val="1E293B"/>
                          </a:solidFill>
                        </a:defRPr>
                      </a:pPr>
                      <a:r>
                        <a:t>N:1 RunContext</a:t>
                      </a:r>
                    </a:p>
                  </a:txBody>
                  <a:tcPr anchor="ctr">
                    <a:solidFill>
                      <a:srgbClr val="FFFFFF"/>
                    </a:solidFill>
                  </a:tcPr>
                </a:tc>
                <a:tc>
                  <a:txBody>
                    <a:bodyPr/>
                    <a:lstStyle/>
                    <a:p>
                      <a:pPr>
                        <a:defRPr sz="1000">
                          <a:solidFill>
                            <a:srgbClr val="1E293B"/>
                          </a:solidFill>
                        </a:defRPr>
                      </a:pPr>
                      <a:r>
                        <a:t>Passive DAST vulnerability audit log</a:t>
                      </a:r>
                    </a:p>
                  </a:txBody>
                  <a:tcPr anchor="ctr">
                    <a:solidFill>
                      <a:srgbClr val="FFFFFF"/>
                    </a:solidFill>
                  </a:tcPr>
                </a:tc>
              </a:tr>
              <a:tr h="418014">
                <a:tc>
                  <a:txBody>
                    <a:bodyPr/>
                    <a:lstStyle/>
                    <a:p>
                      <a:pPr>
                        <a:defRPr sz="1000" b="1">
                          <a:solidFill>
                            <a:srgbClr val="2563EB"/>
                          </a:solidFill>
                        </a:defRPr>
                      </a:pPr>
                      <a:r>
                        <a:t>ArtifactReference</a:t>
                      </a:r>
                    </a:p>
                  </a:txBody>
                  <a:tcPr anchor="ctr">
                    <a:solidFill>
                      <a:srgbClr val="F1F5F9"/>
                    </a:solidFill>
                  </a:tcPr>
                </a:tc>
                <a:tc>
                  <a:txBody>
                    <a:bodyPr/>
                    <a:lstStyle/>
                    <a:p>
                      <a:pPr>
                        <a:defRPr sz="1000">
                          <a:solidFill>
                            <a:srgbClr val="1E293B"/>
                          </a:solidFill>
                        </a:defRPr>
                      </a:pPr>
                      <a:r>
                        <a:t>artifact_id, run_id, file_type, file_path, size_bytes</a:t>
                      </a:r>
                    </a:p>
                  </a:txBody>
                  <a:tcPr anchor="ctr">
                    <a:solidFill>
                      <a:srgbClr val="F1F5F9"/>
                    </a:solidFill>
                  </a:tcPr>
                </a:tc>
                <a:tc>
                  <a:txBody>
                    <a:bodyPr/>
                    <a:lstStyle/>
                    <a:p>
                      <a:pPr>
                        <a:defRPr sz="1000">
                          <a:solidFill>
                            <a:srgbClr val="1E293B"/>
                          </a:solidFill>
                        </a:defRPr>
                      </a:pPr>
                      <a:r>
                        <a:t>N:1 RunContext</a:t>
                      </a:r>
                    </a:p>
                  </a:txBody>
                  <a:tcPr anchor="ctr">
                    <a:solidFill>
                      <a:srgbClr val="F1F5F9"/>
                    </a:solidFill>
                  </a:tcPr>
                </a:tc>
                <a:tc>
                  <a:txBody>
                    <a:bodyPr/>
                    <a:lstStyle/>
                    <a:p>
                      <a:pPr>
                        <a:defRPr sz="1000">
                          <a:solidFill>
                            <a:srgbClr val="1E293B"/>
                          </a:solidFill>
                        </a:defRPr>
                      </a:pPr>
                      <a:r>
                        <a:t>Tracked Excel workbooks, JUnit XML &amp; reports</a:t>
                      </a:r>
                    </a:p>
                  </a:txBody>
                  <a:tcPr anchor="ctr">
                    <a:solidFill>
                      <a:srgbClr val="F1F5F9"/>
                    </a:solidFill>
                  </a:tcPr>
                </a:tc>
              </a:tr>
            </a:tbl>
          </a:graphicData>
        </a:graphic>
      </p:graphicFrame>
      <p:sp>
        <p:nvSpPr>
          <p:cNvPr id="5" name="TextBox 4"/>
          <p:cNvSpPr txBox="1"/>
          <p:nvPr/>
        </p:nvSpPr>
        <p:spPr>
          <a:xfrm>
            <a:off x="731520" y="4480560"/>
            <a:ext cx="10698480" cy="365760"/>
          </a:xfrm>
          <a:prstGeom prst="rect">
            <a:avLst/>
          </a:prstGeom>
          <a:noFill/>
        </p:spPr>
        <p:txBody>
          <a:bodyPr wrap="none">
            <a:spAutoFit/>
          </a:bodyPr>
          <a:lstStyle/>
          <a:p>
            <a:pPr>
              <a:defRPr sz="950" i="1">
                <a:solidFill>
                  <a:srgbClr val="64748B"/>
                </a:solidFill>
              </a:defRPr>
            </a:pPr>
            <a:r>
              <a:t>ℹ Note: Supports SQLite for zero-config single-node setups and PostgreSQL for multi-user high-concurrency enterprise deployments.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563EB"/>
                </a:solidFill>
              </a:defRPr>
            </a:pPr>
            <a:r>
              <a:t>SECURE ARCHITECTURE &amp; RISK MITIGATION</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defRPr>
            </a:pPr>
            <a:r>
              <a:t>Enterprise Security, Governance &amp; Transport Guardrails</a:t>
            </a:r>
          </a:p>
        </p:txBody>
      </p:sp>
      <p:graphicFrame>
        <p:nvGraphicFramePr>
          <p:cNvPr id="4" name="Table 3"/>
          <p:cNvGraphicFramePr>
            <a:graphicFrameLocks noGrp="1"/>
          </p:cNvGraphicFramePr>
          <p:nvPr/>
        </p:nvGraphicFramePr>
        <p:xfrm>
          <a:off x="731520" y="1371600"/>
          <a:ext cx="10698480" cy="2514600"/>
        </p:xfrm>
        <a:graphic>
          <a:graphicData uri="http://schemas.openxmlformats.org/drawingml/2006/table">
            <a:tbl>
              <a:tblPr firstRow="1" bandRow="1">
                <a:tableStyleId>{5C22544A-7EE6-4342-B048-85BDC9FD1C3A}</a:tableStyleId>
              </a:tblPr>
              <a:tblGrid>
                <a:gridCol w="1828800"/>
                <a:gridCol w="3474720"/>
                <a:gridCol w="3657600"/>
                <a:gridCol w="1737360"/>
              </a:tblGrid>
              <a:tr h="419100">
                <a:tc>
                  <a:txBody>
                    <a:bodyPr/>
                    <a:lstStyle/>
                    <a:p>
                      <a:pPr algn="l">
                        <a:defRPr sz="1100" b="1">
                          <a:solidFill>
                            <a:srgbClr val="FFFFFF"/>
                          </a:solidFill>
                        </a:defRPr>
                      </a:pPr>
                      <a:r>
                        <a:t>Security Domain</a:t>
                      </a:r>
                    </a:p>
                  </a:txBody>
                  <a:tcPr anchor="ctr">
                    <a:solidFill>
                      <a:srgbClr val="0F172A"/>
                    </a:solidFill>
                  </a:tcPr>
                </a:tc>
                <a:tc>
                  <a:txBody>
                    <a:bodyPr/>
                    <a:lstStyle/>
                    <a:p>
                      <a:pPr algn="l">
                        <a:defRPr sz="1100" b="1">
                          <a:solidFill>
                            <a:srgbClr val="FFFFFF"/>
                          </a:solidFill>
                        </a:defRPr>
                      </a:pPr>
                      <a:r>
                        <a:t>Threat Vector</a:t>
                      </a:r>
                    </a:p>
                  </a:txBody>
                  <a:tcPr anchor="ctr">
                    <a:solidFill>
                      <a:srgbClr val="0F172A"/>
                    </a:solidFill>
                  </a:tcPr>
                </a:tc>
                <a:tc>
                  <a:txBody>
                    <a:bodyPr/>
                    <a:lstStyle/>
                    <a:p>
                      <a:pPr algn="l">
                        <a:defRPr sz="1100" b="1">
                          <a:solidFill>
                            <a:srgbClr val="FFFFFF"/>
                          </a:solidFill>
                        </a:defRPr>
                      </a:pPr>
                      <a:r>
                        <a:t>PiOne Testmate Guardrail</a:t>
                      </a:r>
                    </a:p>
                  </a:txBody>
                  <a:tcPr anchor="ctr">
                    <a:solidFill>
                      <a:srgbClr val="0F172A"/>
                    </a:solidFill>
                  </a:tcPr>
                </a:tc>
                <a:tc>
                  <a:txBody>
                    <a:bodyPr/>
                    <a:lstStyle/>
                    <a:p>
                      <a:pPr algn="l">
                        <a:defRPr sz="1100" b="1">
                          <a:solidFill>
                            <a:srgbClr val="FFFFFF"/>
                          </a:solidFill>
                        </a:defRPr>
                      </a:pPr>
                      <a:r>
                        <a:t>Compliance Mapping</a:t>
                      </a:r>
                    </a:p>
                  </a:txBody>
                  <a:tcPr anchor="ctr">
                    <a:solidFill>
                      <a:srgbClr val="0F172A"/>
                    </a:solidFill>
                  </a:tcPr>
                </a:tc>
              </a:tr>
              <a:tr h="419100">
                <a:tc>
                  <a:txBody>
                    <a:bodyPr/>
                    <a:lstStyle/>
                    <a:p>
                      <a:pPr>
                        <a:defRPr sz="1000" b="1">
                          <a:solidFill>
                            <a:srgbClr val="2563EB"/>
                          </a:solidFill>
                        </a:defRPr>
                      </a:pPr>
                      <a:r>
                        <a:t>Transport SSRF</a:t>
                      </a:r>
                    </a:p>
                  </a:txBody>
                  <a:tcPr anchor="ctr">
                    <a:solidFill>
                      <a:srgbClr val="FFFFFF"/>
                    </a:solidFill>
                  </a:tcPr>
                </a:tc>
                <a:tc>
                  <a:txBody>
                    <a:bodyPr/>
                    <a:lstStyle/>
                    <a:p>
                      <a:pPr>
                        <a:defRPr sz="1000">
                          <a:solidFill>
                            <a:srgbClr val="1E293B"/>
                          </a:solidFill>
                        </a:defRPr>
                      </a:pPr>
                      <a:r>
                        <a:t>Malicious redirects to cloud metadata (169.254.169.254) or VPC</a:t>
                      </a:r>
                    </a:p>
                  </a:txBody>
                  <a:tcPr anchor="ctr">
                    <a:solidFill>
                      <a:srgbClr val="FFFFFF"/>
                    </a:solidFill>
                  </a:tcPr>
                </a:tc>
                <a:tc>
                  <a:txBody>
                    <a:bodyPr/>
                    <a:lstStyle/>
                    <a:p>
                      <a:pPr>
                        <a:defRPr sz="1000">
                          <a:solidFill>
                            <a:srgbClr val="1E293B"/>
                          </a:solidFill>
                        </a:defRPr>
                      </a:pPr>
                      <a:r>
                        <a:t>Playwright route interception mathematically drops non-target and private IP ranges</a:t>
                      </a:r>
                    </a:p>
                  </a:txBody>
                  <a:tcPr anchor="ctr">
                    <a:solidFill>
                      <a:srgbClr val="FFFFFF"/>
                    </a:solidFill>
                  </a:tcPr>
                </a:tc>
                <a:tc>
                  <a:txBody>
                    <a:bodyPr/>
                    <a:lstStyle/>
                    <a:p>
                      <a:pPr>
                        <a:defRPr sz="1000">
                          <a:solidFill>
                            <a:srgbClr val="1E293B"/>
                          </a:solidFill>
                        </a:defRPr>
                      </a:pPr>
                      <a:r>
                        <a:t>CWE-918, OWASP A10</a:t>
                      </a:r>
                    </a:p>
                  </a:txBody>
                  <a:tcPr anchor="ctr">
                    <a:solidFill>
                      <a:srgbClr val="FFFFFF"/>
                    </a:solidFill>
                  </a:tcPr>
                </a:tc>
              </a:tr>
              <a:tr h="419100">
                <a:tc>
                  <a:txBody>
                    <a:bodyPr/>
                    <a:lstStyle/>
                    <a:p>
                      <a:pPr>
                        <a:defRPr sz="1000" b="1">
                          <a:solidFill>
                            <a:srgbClr val="2563EB"/>
                          </a:solidFill>
                        </a:defRPr>
                      </a:pPr>
                      <a:r>
                        <a:t>Destructive Actions</a:t>
                      </a:r>
                    </a:p>
                  </a:txBody>
                  <a:tcPr anchor="ctr">
                    <a:solidFill>
                      <a:srgbClr val="F1F5F9"/>
                    </a:solidFill>
                  </a:tcPr>
                </a:tc>
                <a:tc>
                  <a:txBody>
                    <a:bodyPr/>
                    <a:lstStyle/>
                    <a:p>
                      <a:pPr>
                        <a:defRPr sz="1000">
                          <a:solidFill>
                            <a:srgbClr val="1E293B"/>
                          </a:solidFill>
                        </a:defRPr>
                      </a:pPr>
                      <a:r>
                        <a:t>Accidental deletion of database records or billing transactions</a:t>
                      </a:r>
                    </a:p>
                  </a:txBody>
                  <a:tcPr anchor="ctr">
                    <a:solidFill>
                      <a:srgbClr val="F1F5F9"/>
                    </a:solidFill>
                  </a:tcPr>
                </a:tc>
                <a:tc>
                  <a:txBody>
                    <a:bodyPr/>
                    <a:lstStyle/>
                    <a:p>
                      <a:pPr>
                        <a:defRPr sz="1000">
                          <a:solidFill>
                            <a:srgbClr val="1E293B"/>
                          </a:solidFill>
                        </a:defRPr>
                      </a:pPr>
                      <a:r>
                        <a:t>Safety Parking-Lot quarantines verbs (delete, cancel, buy) for human approval</a:t>
                      </a:r>
                    </a:p>
                  </a:txBody>
                  <a:tcPr anchor="ctr">
                    <a:solidFill>
                      <a:srgbClr val="F1F5F9"/>
                    </a:solidFill>
                  </a:tcPr>
                </a:tc>
                <a:tc>
                  <a:txBody>
                    <a:bodyPr/>
                    <a:lstStyle/>
                    <a:p>
                      <a:pPr>
                        <a:defRPr sz="1000">
                          <a:solidFill>
                            <a:srgbClr val="1E293B"/>
                          </a:solidFill>
                        </a:defRPr>
                      </a:pPr>
                      <a:r>
                        <a:t>SOC2 CC7.2</a:t>
                      </a:r>
                    </a:p>
                  </a:txBody>
                  <a:tcPr anchor="ctr">
                    <a:solidFill>
                      <a:srgbClr val="F1F5F9"/>
                    </a:solidFill>
                  </a:tcPr>
                </a:tc>
              </a:tr>
              <a:tr h="419100">
                <a:tc>
                  <a:txBody>
                    <a:bodyPr/>
                    <a:lstStyle/>
                    <a:p>
                      <a:pPr>
                        <a:defRPr sz="1000" b="1">
                          <a:solidFill>
                            <a:srgbClr val="2563EB"/>
                          </a:solidFill>
                        </a:defRPr>
                      </a:pPr>
                      <a:r>
                        <a:t>Credential Leakage</a:t>
                      </a:r>
                    </a:p>
                  </a:txBody>
                  <a:tcPr anchor="ctr">
                    <a:solidFill>
                      <a:srgbClr val="FFFFFF"/>
                    </a:solidFill>
                  </a:tcPr>
                </a:tc>
                <a:tc>
                  <a:txBody>
                    <a:bodyPr/>
                    <a:lstStyle/>
                    <a:p>
                      <a:pPr>
                        <a:defRPr sz="1000">
                          <a:solidFill>
                            <a:srgbClr val="1E293B"/>
                          </a:solidFill>
                        </a:defRPr>
                      </a:pPr>
                      <a:r>
                        <a:t>Passwords or session tokens leaking in logs, reports, or CI artifacts</a:t>
                      </a:r>
                    </a:p>
                  </a:txBody>
                  <a:tcPr anchor="ctr">
                    <a:solidFill>
                      <a:srgbClr val="FFFFFF"/>
                    </a:solidFill>
                  </a:tcPr>
                </a:tc>
                <a:tc>
                  <a:txBody>
                    <a:bodyPr/>
                    <a:lstStyle/>
                    <a:p>
                      <a:pPr>
                        <a:defRPr sz="1000">
                          <a:solidFill>
                            <a:srgbClr val="1E293B"/>
                          </a:solidFill>
                        </a:defRPr>
                      </a:pPr>
                      <a:r>
                        <a:t>Encrypted storage under reports/auth_sessions/; regex redaction on all logs</a:t>
                      </a:r>
                    </a:p>
                  </a:txBody>
                  <a:tcPr anchor="ctr">
                    <a:solidFill>
                      <a:srgbClr val="FFFFFF"/>
                    </a:solidFill>
                  </a:tcPr>
                </a:tc>
                <a:tc>
                  <a:txBody>
                    <a:bodyPr/>
                    <a:lstStyle/>
                    <a:p>
                      <a:pPr>
                        <a:defRPr sz="1000">
                          <a:solidFill>
                            <a:srgbClr val="1E293B"/>
                          </a:solidFill>
                        </a:defRPr>
                      </a:pPr>
                      <a:r>
                        <a:t>ISO 27001 A.9.4</a:t>
                      </a:r>
                    </a:p>
                  </a:txBody>
                  <a:tcPr anchor="ctr">
                    <a:solidFill>
                      <a:srgbClr val="FFFFFF"/>
                    </a:solidFill>
                  </a:tcPr>
                </a:tc>
              </a:tr>
              <a:tr h="419100">
                <a:tc>
                  <a:txBody>
                    <a:bodyPr/>
                    <a:lstStyle/>
                    <a:p>
                      <a:pPr>
                        <a:defRPr sz="1000" b="1">
                          <a:solidFill>
                            <a:srgbClr val="2563EB"/>
                          </a:solidFill>
                        </a:defRPr>
                      </a:pPr>
                      <a:r>
                        <a:t>AI Hallucinations</a:t>
                      </a:r>
                    </a:p>
                  </a:txBody>
                  <a:tcPr anchor="ctr">
                    <a:solidFill>
                      <a:srgbClr val="F1F5F9"/>
                    </a:solidFill>
                  </a:tcPr>
                </a:tc>
                <a:tc>
                  <a:txBody>
                    <a:bodyPr/>
                    <a:lstStyle/>
                    <a:p>
                      <a:pPr>
                        <a:defRPr sz="1000">
                          <a:solidFill>
                            <a:srgbClr val="1E293B"/>
                          </a:solidFill>
                        </a:defRPr>
                      </a:pPr>
                      <a:r>
                        <a:t>LLM generating non-existent test steps causing pipeline failures</a:t>
                      </a:r>
                    </a:p>
                  </a:txBody>
                  <a:tcPr anchor="ctr">
                    <a:solidFill>
                      <a:srgbClr val="F1F5F9"/>
                    </a:solidFill>
                  </a:tcPr>
                </a:tc>
                <a:tc>
                  <a:txBody>
                    <a:bodyPr/>
                    <a:lstStyle/>
                    <a:p>
                      <a:pPr>
                        <a:defRPr sz="1000">
                          <a:solidFill>
                            <a:srgbClr val="1E293B"/>
                          </a:solidFill>
                        </a:defRPr>
                      </a:pPr>
                      <a:r>
                        <a:t>Prompts strictly bounded to elements in the registered DOM catalog</a:t>
                      </a:r>
                    </a:p>
                  </a:txBody>
                  <a:tcPr anchor="ctr">
                    <a:solidFill>
                      <a:srgbClr val="F1F5F9"/>
                    </a:solidFill>
                  </a:tcPr>
                </a:tc>
                <a:tc>
                  <a:txBody>
                    <a:bodyPr/>
                    <a:lstStyle/>
                    <a:p>
                      <a:pPr>
                        <a:defRPr sz="1000">
                          <a:solidFill>
                            <a:srgbClr val="1E293B"/>
                          </a:solidFill>
                        </a:defRPr>
                      </a:pPr>
                      <a:r>
                        <a:t>OWASP LLM09</a:t>
                      </a:r>
                    </a:p>
                  </a:txBody>
                  <a:tcPr anchor="ctr">
                    <a:solidFill>
                      <a:srgbClr val="F1F5F9"/>
                    </a:solidFill>
                  </a:tcPr>
                </a:tc>
              </a:tr>
              <a:tr h="419100">
                <a:tc>
                  <a:txBody>
                    <a:bodyPr/>
                    <a:lstStyle/>
                    <a:p>
                      <a:pPr>
                        <a:defRPr sz="1000" b="1">
                          <a:solidFill>
                            <a:srgbClr val="2563EB"/>
                          </a:solidFill>
                        </a:defRPr>
                      </a:pPr>
                      <a:r>
                        <a:t>Session Hijacking</a:t>
                      </a:r>
                    </a:p>
                  </a:txBody>
                  <a:tcPr anchor="ctr">
                    <a:solidFill>
                      <a:srgbClr val="FFFFFF"/>
                    </a:solidFill>
                  </a:tcPr>
                </a:tc>
                <a:tc>
                  <a:txBody>
                    <a:bodyPr/>
                    <a:lstStyle/>
                    <a:p>
                      <a:pPr>
                        <a:defRPr sz="1000">
                          <a:solidFill>
                            <a:srgbClr val="1E293B"/>
                          </a:solidFill>
                        </a:defRPr>
                      </a:pPr>
                      <a:r>
                        <a:t>Expired or stale session states invalidating long-running tests</a:t>
                      </a:r>
                    </a:p>
                  </a:txBody>
                  <a:tcPr anchor="ctr">
                    <a:solidFill>
                      <a:srgbClr val="FFFFFF"/>
                    </a:solidFill>
                  </a:tcPr>
                </a:tc>
                <a:tc>
                  <a:txBody>
                    <a:bodyPr/>
                    <a:lstStyle/>
                    <a:p>
                      <a:pPr>
                        <a:defRPr sz="1000">
                          <a:solidFill>
                            <a:srgbClr val="1E293B"/>
                          </a:solidFill>
                        </a:defRPr>
                      </a:pPr>
                      <a:r>
                        <a:t>In-place /session/refresh preserves run context without re-authenticating</a:t>
                      </a:r>
                    </a:p>
                  </a:txBody>
                  <a:tcPr anchor="ctr">
                    <a:solidFill>
                      <a:srgbClr val="FFFFFF"/>
                    </a:solidFill>
                  </a:tcPr>
                </a:tc>
                <a:tc>
                  <a:txBody>
                    <a:bodyPr/>
                    <a:lstStyle/>
                    <a:p>
                      <a:pPr>
                        <a:defRPr sz="1000">
                          <a:solidFill>
                            <a:srgbClr val="1E293B"/>
                          </a:solidFill>
                        </a:defRPr>
                      </a:pPr>
                      <a:r>
                        <a:t>OWASP A07</a:t>
                      </a:r>
                    </a:p>
                  </a:txBody>
                  <a:tcPr anchor="ctr">
                    <a:solidFill>
                      <a:srgbClr val="FFFFFF"/>
                    </a:solidFill>
                  </a:tcPr>
                </a:tc>
              </a:tr>
            </a:tbl>
          </a:graphicData>
        </a:graphic>
      </p:graphicFrame>
      <p:sp>
        <p:nvSpPr>
          <p:cNvPr id="5" name="TextBox 4"/>
          <p:cNvSpPr txBox="1"/>
          <p:nvPr/>
        </p:nvSpPr>
        <p:spPr>
          <a:xfrm>
            <a:off x="731520" y="4069080"/>
            <a:ext cx="10698480" cy="365760"/>
          </a:xfrm>
          <a:prstGeom prst="rect">
            <a:avLst/>
          </a:prstGeom>
          <a:noFill/>
        </p:spPr>
        <p:txBody>
          <a:bodyPr wrap="none">
            <a:spAutoFit/>
          </a:bodyPr>
          <a:lstStyle/>
          <a:p>
            <a:pPr>
              <a:defRPr sz="950" i="1">
                <a:solidFill>
                  <a:srgbClr val="64748B"/>
                </a:solidFill>
              </a:defRPr>
            </a:pPr>
            <a:r>
              <a:t>ℹ Note: All guardrails are strictly enforced at the Python/Playwright transport layer and cannot be bypassed by AI models.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563EB"/>
                </a:solidFill>
              </a:defRPr>
            </a:pPr>
            <a:r>
              <a:t>MARKET COMPARISON &amp; ENTERPRISE ADVANTAGE</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defRPr>
            </a:pPr>
            <a:r>
              <a:t>Competitive Differentiation Matrix</a:t>
            </a:r>
          </a:p>
        </p:txBody>
      </p:sp>
      <p:graphicFrame>
        <p:nvGraphicFramePr>
          <p:cNvPr id="4" name="Table 3"/>
          <p:cNvGraphicFramePr>
            <a:graphicFrameLocks noGrp="1"/>
          </p:cNvGraphicFramePr>
          <p:nvPr/>
        </p:nvGraphicFramePr>
        <p:xfrm>
          <a:off x="731520" y="1371600"/>
          <a:ext cx="10698480" cy="3337560"/>
        </p:xfrm>
        <a:graphic>
          <a:graphicData uri="http://schemas.openxmlformats.org/drawingml/2006/table">
            <a:tbl>
              <a:tblPr firstRow="1" bandRow="1">
                <a:tableStyleId>{5C22544A-7EE6-4342-B048-85BDC9FD1C3A}</a:tableStyleId>
              </a:tblPr>
              <a:tblGrid>
                <a:gridCol w="2194560"/>
                <a:gridCol w="2286000"/>
                <a:gridCol w="2011680"/>
                <a:gridCol w="2011680"/>
                <a:gridCol w="2194560"/>
              </a:tblGrid>
              <a:tr h="417195">
                <a:tc>
                  <a:txBody>
                    <a:bodyPr/>
                    <a:lstStyle/>
                    <a:p>
                      <a:pPr algn="l">
                        <a:defRPr sz="1100" b="1">
                          <a:solidFill>
                            <a:srgbClr val="FFFFFF"/>
                          </a:solidFill>
                        </a:defRPr>
                      </a:pPr>
                      <a:r>
                        <a:t>Capability</a:t>
                      </a:r>
                    </a:p>
                  </a:txBody>
                  <a:tcPr anchor="ctr">
                    <a:solidFill>
                      <a:srgbClr val="0F172A"/>
                    </a:solidFill>
                  </a:tcPr>
                </a:tc>
                <a:tc>
                  <a:txBody>
                    <a:bodyPr/>
                    <a:lstStyle/>
                    <a:p>
                      <a:pPr algn="l">
                        <a:defRPr sz="1100" b="1">
                          <a:solidFill>
                            <a:srgbClr val="FFFFFF"/>
                          </a:solidFill>
                        </a:defRPr>
                      </a:pPr>
                      <a:r>
                        <a:t>PiOne Testmate</a:t>
                      </a:r>
                    </a:p>
                  </a:txBody>
                  <a:tcPr anchor="ctr">
                    <a:solidFill>
                      <a:srgbClr val="0F172A"/>
                    </a:solidFill>
                  </a:tcPr>
                </a:tc>
                <a:tc>
                  <a:txBody>
                    <a:bodyPr/>
                    <a:lstStyle/>
                    <a:p>
                      <a:pPr algn="l">
                        <a:defRPr sz="1100" b="1">
                          <a:solidFill>
                            <a:srgbClr val="FFFFFF"/>
                          </a:solidFill>
                        </a:defRPr>
                      </a:pPr>
                      <a:r>
                        <a:t>Selenium / WebDriver</a:t>
                      </a:r>
                    </a:p>
                  </a:txBody>
                  <a:tcPr anchor="ctr">
                    <a:solidFill>
                      <a:srgbClr val="0F172A"/>
                    </a:solidFill>
                  </a:tcPr>
                </a:tc>
                <a:tc>
                  <a:txBody>
                    <a:bodyPr/>
                    <a:lstStyle/>
                    <a:p>
                      <a:pPr algn="l">
                        <a:defRPr sz="1100" b="1">
                          <a:solidFill>
                            <a:srgbClr val="FFFFFF"/>
                          </a:solidFill>
                        </a:defRPr>
                      </a:pPr>
                      <a:r>
                        <a:t>Cypress / Playwright</a:t>
                      </a:r>
                    </a:p>
                  </a:txBody>
                  <a:tcPr anchor="ctr">
                    <a:solidFill>
                      <a:srgbClr val="0F172A"/>
                    </a:solidFill>
                  </a:tcPr>
                </a:tc>
                <a:tc>
                  <a:txBody>
                    <a:bodyPr/>
                    <a:lstStyle/>
                    <a:p>
                      <a:pPr algn="l">
                        <a:defRPr sz="1100" b="1">
                          <a:solidFill>
                            <a:srgbClr val="FFFFFF"/>
                          </a:solidFill>
                        </a:defRPr>
                      </a:pPr>
                      <a:r>
                        <a:t>Black-Box AI Bots</a:t>
                      </a:r>
                    </a:p>
                  </a:txBody>
                  <a:tcPr anchor="ctr">
                    <a:solidFill>
                      <a:srgbClr val="0F172A"/>
                    </a:solidFill>
                  </a:tcPr>
                </a:tc>
              </a:tr>
              <a:tr h="417195">
                <a:tc>
                  <a:txBody>
                    <a:bodyPr/>
                    <a:lstStyle/>
                    <a:p>
                      <a:pPr>
                        <a:defRPr sz="1000" b="1">
                          <a:solidFill>
                            <a:srgbClr val="2563EB"/>
                          </a:solidFill>
                        </a:defRPr>
                      </a:pPr>
                      <a:r>
                        <a:t>Setup Effort</a:t>
                      </a:r>
                    </a:p>
                  </a:txBody>
                  <a:tcPr anchor="ctr">
                    <a:solidFill>
                      <a:srgbClr val="FFFFFF"/>
                    </a:solidFill>
                  </a:tcPr>
                </a:tc>
                <a:tc>
                  <a:txBody>
                    <a:bodyPr/>
                    <a:lstStyle/>
                    <a:p>
                      <a:pPr>
                        <a:defRPr sz="1000">
                          <a:solidFill>
                            <a:srgbClr val="1E293B"/>
                          </a:solidFill>
                        </a:defRPr>
                      </a:pPr>
                      <a:r>
                        <a:t>Zero-Script Autonomous</a:t>
                      </a:r>
                    </a:p>
                  </a:txBody>
                  <a:tcPr anchor="ctr">
                    <a:solidFill>
                      <a:srgbClr val="FFFFFF"/>
                    </a:solidFill>
                  </a:tcPr>
                </a:tc>
                <a:tc>
                  <a:txBody>
                    <a:bodyPr/>
                    <a:lstStyle/>
                    <a:p>
                      <a:pPr>
                        <a:defRPr sz="1000">
                          <a:solidFill>
                            <a:srgbClr val="1E293B"/>
                          </a:solidFill>
                        </a:defRPr>
                      </a:pPr>
                      <a:r>
                        <a:t>High (Manual Coding)</a:t>
                      </a:r>
                    </a:p>
                  </a:txBody>
                  <a:tcPr anchor="ctr">
                    <a:solidFill>
                      <a:srgbClr val="FFFFFF"/>
                    </a:solidFill>
                  </a:tcPr>
                </a:tc>
                <a:tc>
                  <a:txBody>
                    <a:bodyPr/>
                    <a:lstStyle/>
                    <a:p>
                      <a:pPr>
                        <a:defRPr sz="1000">
                          <a:solidFill>
                            <a:srgbClr val="1E293B"/>
                          </a:solidFill>
                        </a:defRPr>
                      </a:pPr>
                      <a:r>
                        <a:t>Medium (Manual Coding)</a:t>
                      </a:r>
                    </a:p>
                  </a:txBody>
                  <a:tcPr anchor="ctr">
                    <a:solidFill>
                      <a:srgbClr val="FFFFFF"/>
                    </a:solidFill>
                  </a:tcPr>
                </a:tc>
                <a:tc>
                  <a:txBody>
                    <a:bodyPr/>
                    <a:lstStyle/>
                    <a:p>
                      <a:pPr>
                        <a:defRPr sz="1000">
                          <a:solidFill>
                            <a:srgbClr val="1E293B"/>
                          </a:solidFill>
                        </a:defRPr>
                      </a:pPr>
                      <a:r>
                        <a:t>Zero-Script</a:t>
                      </a:r>
                    </a:p>
                  </a:txBody>
                  <a:tcPr anchor="ctr">
                    <a:solidFill>
                      <a:srgbClr val="FFFFFF"/>
                    </a:solidFill>
                  </a:tcPr>
                </a:tc>
              </a:tr>
              <a:tr h="417195">
                <a:tc>
                  <a:txBody>
                    <a:bodyPr/>
                    <a:lstStyle/>
                    <a:p>
                      <a:pPr>
                        <a:defRPr sz="1000" b="1">
                          <a:solidFill>
                            <a:srgbClr val="2563EB"/>
                          </a:solidFill>
                        </a:defRPr>
                      </a:pPr>
                      <a:r>
                        <a:t>Selector Maintenance</a:t>
                      </a:r>
                    </a:p>
                  </a:txBody>
                  <a:tcPr anchor="ctr">
                    <a:solidFill>
                      <a:srgbClr val="F1F5F9"/>
                    </a:solidFill>
                  </a:tcPr>
                </a:tc>
                <a:tc>
                  <a:txBody>
                    <a:bodyPr/>
                    <a:lstStyle/>
                    <a:p>
                      <a:pPr>
                        <a:defRPr sz="1000">
                          <a:solidFill>
                            <a:srgbClr val="1E293B"/>
                          </a:solidFill>
                        </a:defRPr>
                      </a:pPr>
                      <a:r>
                        <a:t>Self-Healing (12 Attr)</a:t>
                      </a:r>
                    </a:p>
                  </a:txBody>
                  <a:tcPr anchor="ctr">
                    <a:solidFill>
                      <a:srgbClr val="F1F5F9"/>
                    </a:solidFill>
                  </a:tcPr>
                </a:tc>
                <a:tc>
                  <a:txBody>
                    <a:bodyPr/>
                    <a:lstStyle/>
                    <a:p>
                      <a:pPr>
                        <a:defRPr sz="1000">
                          <a:solidFill>
                            <a:srgbClr val="1E293B"/>
                          </a:solidFill>
                        </a:defRPr>
                      </a:pPr>
                      <a:r>
                        <a:t>High Maintenance (40% time)</a:t>
                      </a:r>
                    </a:p>
                  </a:txBody>
                  <a:tcPr anchor="ctr">
                    <a:solidFill>
                      <a:srgbClr val="F1F5F9"/>
                    </a:solidFill>
                  </a:tcPr>
                </a:tc>
                <a:tc>
                  <a:txBody>
                    <a:bodyPr/>
                    <a:lstStyle/>
                    <a:p>
                      <a:pPr>
                        <a:defRPr sz="1000">
                          <a:solidFill>
                            <a:srgbClr val="1E293B"/>
                          </a:solidFill>
                        </a:defRPr>
                      </a:pPr>
                      <a:r>
                        <a:t>High Maintenance</a:t>
                      </a:r>
                    </a:p>
                  </a:txBody>
                  <a:tcPr anchor="ctr">
                    <a:solidFill>
                      <a:srgbClr val="F1F5F9"/>
                    </a:solidFill>
                  </a:tcPr>
                </a:tc>
                <a:tc>
                  <a:txBody>
                    <a:bodyPr/>
                    <a:lstStyle/>
                    <a:p>
                      <a:pPr>
                        <a:defRPr sz="1000">
                          <a:solidFill>
                            <a:srgbClr val="1E293B"/>
                          </a:solidFill>
                        </a:defRPr>
                      </a:pPr>
                      <a:r>
                        <a:t>Brittle / Hallucinates</a:t>
                      </a:r>
                    </a:p>
                  </a:txBody>
                  <a:tcPr anchor="ctr">
                    <a:solidFill>
                      <a:srgbClr val="F1F5F9"/>
                    </a:solidFill>
                  </a:tcPr>
                </a:tc>
              </a:tr>
              <a:tr h="417195">
                <a:tc>
                  <a:txBody>
                    <a:bodyPr/>
                    <a:lstStyle/>
                    <a:p>
                      <a:pPr>
                        <a:defRPr sz="1000" b="1">
                          <a:solidFill>
                            <a:srgbClr val="2563EB"/>
                          </a:solidFill>
                        </a:defRPr>
                      </a:pPr>
                      <a:r>
                        <a:t>Destructive Protection</a:t>
                      </a:r>
                    </a:p>
                  </a:txBody>
                  <a:tcPr anchor="ctr">
                    <a:solidFill>
                      <a:srgbClr val="FFFFFF"/>
                    </a:solidFill>
                  </a:tcPr>
                </a:tc>
                <a:tc>
                  <a:txBody>
                    <a:bodyPr/>
                    <a:lstStyle/>
                    <a:p>
                      <a:pPr>
                        <a:defRPr sz="1000">
                          <a:solidFill>
                            <a:srgbClr val="1E293B"/>
                          </a:solidFill>
                        </a:defRPr>
                      </a:pPr>
                      <a:r>
                        <a:t>Safety Parking Lot Enclave</a:t>
                      </a:r>
                    </a:p>
                  </a:txBody>
                  <a:tcPr anchor="ctr">
                    <a:solidFill>
                      <a:srgbClr val="FFFFFF"/>
                    </a:solidFill>
                  </a:tcPr>
                </a:tc>
                <a:tc>
                  <a:txBody>
                    <a:bodyPr/>
                    <a:lstStyle/>
                    <a:p>
                      <a:pPr>
                        <a:defRPr sz="1000">
                          <a:solidFill>
                            <a:srgbClr val="1E293B"/>
                          </a:solidFill>
                        </a:defRPr>
                      </a:pPr>
                      <a:r>
                        <a:t>None (Blind Execution)</a:t>
                      </a:r>
                    </a:p>
                  </a:txBody>
                  <a:tcPr anchor="ctr">
                    <a:solidFill>
                      <a:srgbClr val="FFFFFF"/>
                    </a:solidFill>
                  </a:tcPr>
                </a:tc>
                <a:tc>
                  <a:txBody>
                    <a:bodyPr/>
                    <a:lstStyle/>
                    <a:p>
                      <a:pPr>
                        <a:defRPr sz="1000">
                          <a:solidFill>
                            <a:srgbClr val="1E293B"/>
                          </a:solidFill>
                        </a:defRPr>
                      </a:pPr>
                      <a:r>
                        <a:t>None (Blind Execution)</a:t>
                      </a:r>
                    </a:p>
                  </a:txBody>
                  <a:tcPr anchor="ctr">
                    <a:solidFill>
                      <a:srgbClr val="FFFFFF"/>
                    </a:solidFill>
                  </a:tcPr>
                </a:tc>
                <a:tc>
                  <a:txBody>
                    <a:bodyPr/>
                    <a:lstStyle/>
                    <a:p>
                      <a:pPr>
                        <a:defRPr sz="1000">
                          <a:solidFill>
                            <a:srgbClr val="1E293B"/>
                          </a:solidFill>
                        </a:defRPr>
                      </a:pPr>
                      <a:r>
                        <a:t>High Risk of Accidental Delete</a:t>
                      </a:r>
                    </a:p>
                  </a:txBody>
                  <a:tcPr anchor="ctr">
                    <a:solidFill>
                      <a:srgbClr val="FFFFFF"/>
                    </a:solidFill>
                  </a:tcPr>
                </a:tc>
              </a:tr>
              <a:tr h="417195">
                <a:tc>
                  <a:txBody>
                    <a:bodyPr/>
                    <a:lstStyle/>
                    <a:p>
                      <a:pPr>
                        <a:defRPr sz="1000" b="1">
                          <a:solidFill>
                            <a:srgbClr val="2563EB"/>
                          </a:solidFill>
                        </a:defRPr>
                      </a:pPr>
                      <a:r>
                        <a:t>Security Auditing</a:t>
                      </a:r>
                    </a:p>
                  </a:txBody>
                  <a:tcPr anchor="ctr">
                    <a:solidFill>
                      <a:srgbClr val="F1F5F9"/>
                    </a:solidFill>
                  </a:tcPr>
                </a:tc>
                <a:tc>
                  <a:txBody>
                    <a:bodyPr/>
                    <a:lstStyle/>
                    <a:p>
                      <a:pPr>
                        <a:defRPr sz="1000">
                          <a:solidFill>
                            <a:srgbClr val="1E293B"/>
                          </a:solidFill>
                        </a:defRPr>
                      </a:pPr>
                      <a:r>
                        <a:t>Built-in Passive DAST</a:t>
                      </a:r>
                    </a:p>
                  </a:txBody>
                  <a:tcPr anchor="ctr">
                    <a:solidFill>
                      <a:srgbClr val="F1F5F9"/>
                    </a:solidFill>
                  </a:tcPr>
                </a:tc>
                <a:tc>
                  <a:txBody>
                    <a:bodyPr/>
                    <a:lstStyle/>
                    <a:p>
                      <a:pPr>
                        <a:defRPr sz="1000">
                          <a:solidFill>
                            <a:srgbClr val="1E293B"/>
                          </a:solidFill>
                        </a:defRPr>
                      </a:pPr>
                      <a:r>
                        <a:t>Requires 3rd-Party Tools</a:t>
                      </a:r>
                    </a:p>
                  </a:txBody>
                  <a:tcPr anchor="ctr">
                    <a:solidFill>
                      <a:srgbClr val="F1F5F9"/>
                    </a:solidFill>
                  </a:tcPr>
                </a:tc>
                <a:tc>
                  <a:txBody>
                    <a:bodyPr/>
                    <a:lstStyle/>
                    <a:p>
                      <a:pPr>
                        <a:defRPr sz="1000">
                          <a:solidFill>
                            <a:srgbClr val="1E293B"/>
                          </a:solidFill>
                        </a:defRPr>
                      </a:pPr>
                      <a:r>
                        <a:t>Requires 3rd-Party Tools</a:t>
                      </a:r>
                    </a:p>
                  </a:txBody>
                  <a:tcPr anchor="ctr">
                    <a:solidFill>
                      <a:srgbClr val="F1F5F9"/>
                    </a:solidFill>
                  </a:tcPr>
                </a:tc>
                <a:tc>
                  <a:txBody>
                    <a:bodyPr/>
                    <a:lstStyle/>
                    <a:p>
                      <a:pPr>
                        <a:defRPr sz="1000">
                          <a:solidFill>
                            <a:srgbClr val="1E293B"/>
                          </a:solidFill>
                        </a:defRPr>
                      </a:pPr>
                      <a:r>
                        <a:t>None</a:t>
                      </a:r>
                    </a:p>
                  </a:txBody>
                  <a:tcPr anchor="ctr">
                    <a:solidFill>
                      <a:srgbClr val="F1F5F9"/>
                    </a:solidFill>
                  </a:tcPr>
                </a:tc>
              </a:tr>
              <a:tr h="417195">
                <a:tc>
                  <a:txBody>
                    <a:bodyPr/>
                    <a:lstStyle/>
                    <a:p>
                      <a:pPr>
                        <a:defRPr sz="1000" b="1">
                          <a:solidFill>
                            <a:srgbClr val="2563EB"/>
                          </a:solidFill>
                        </a:defRPr>
                      </a:pPr>
                      <a:r>
                        <a:t>AI Model Portability</a:t>
                      </a:r>
                    </a:p>
                  </a:txBody>
                  <a:tcPr anchor="ctr">
                    <a:solidFill>
                      <a:srgbClr val="FFFFFF"/>
                    </a:solidFill>
                  </a:tcPr>
                </a:tc>
                <a:tc>
                  <a:txBody>
                    <a:bodyPr/>
                    <a:lstStyle/>
                    <a:p>
                      <a:pPr>
                        <a:defRPr sz="1000">
                          <a:solidFill>
                            <a:srgbClr val="1E293B"/>
                          </a:solidFill>
                        </a:defRPr>
                      </a:pPr>
                      <a:r>
                        <a:t>Gemini, OpenAI, Claude, Ollama</a:t>
                      </a:r>
                    </a:p>
                  </a:txBody>
                  <a:tcPr anchor="ctr">
                    <a:solidFill>
                      <a:srgbClr val="FFFFFF"/>
                    </a:solidFill>
                  </a:tcPr>
                </a:tc>
                <a:tc>
                  <a:txBody>
                    <a:bodyPr/>
                    <a:lstStyle/>
                    <a:p>
                      <a:pPr>
                        <a:defRPr sz="1000">
                          <a:solidFill>
                            <a:srgbClr val="1E293B"/>
                          </a:solidFill>
                        </a:defRPr>
                      </a:pPr>
                      <a:r>
                        <a:t>None</a:t>
                      </a:r>
                    </a:p>
                  </a:txBody>
                  <a:tcPr anchor="ctr">
                    <a:solidFill>
                      <a:srgbClr val="FFFFFF"/>
                    </a:solidFill>
                  </a:tcPr>
                </a:tc>
                <a:tc>
                  <a:txBody>
                    <a:bodyPr/>
                    <a:lstStyle/>
                    <a:p>
                      <a:pPr>
                        <a:defRPr sz="1000">
                          <a:solidFill>
                            <a:srgbClr val="1E293B"/>
                          </a:solidFill>
                        </a:defRPr>
                      </a:pPr>
                      <a:r>
                        <a:t>None</a:t>
                      </a:r>
                    </a:p>
                  </a:txBody>
                  <a:tcPr anchor="ctr">
                    <a:solidFill>
                      <a:srgbClr val="FFFFFF"/>
                    </a:solidFill>
                  </a:tcPr>
                </a:tc>
                <a:tc>
                  <a:txBody>
                    <a:bodyPr/>
                    <a:lstStyle/>
                    <a:p>
                      <a:pPr>
                        <a:defRPr sz="1000">
                          <a:solidFill>
                            <a:srgbClr val="1E293B"/>
                          </a:solidFill>
                        </a:defRPr>
                      </a:pPr>
                      <a:r>
                        <a:t>Locked to Single Vendor</a:t>
                      </a:r>
                    </a:p>
                  </a:txBody>
                  <a:tcPr anchor="ctr">
                    <a:solidFill>
                      <a:srgbClr val="FFFFFF"/>
                    </a:solidFill>
                  </a:tcPr>
                </a:tc>
              </a:tr>
              <a:tr h="417195">
                <a:tc>
                  <a:txBody>
                    <a:bodyPr/>
                    <a:lstStyle/>
                    <a:p>
                      <a:pPr>
                        <a:defRPr sz="1000" b="1">
                          <a:solidFill>
                            <a:srgbClr val="2563EB"/>
                          </a:solidFill>
                        </a:defRPr>
                      </a:pPr>
                      <a:r>
                        <a:t>State Persistence</a:t>
                      </a:r>
                    </a:p>
                  </a:txBody>
                  <a:tcPr anchor="ctr">
                    <a:solidFill>
                      <a:srgbClr val="F1F5F9"/>
                    </a:solidFill>
                  </a:tcPr>
                </a:tc>
                <a:tc>
                  <a:txBody>
                    <a:bodyPr/>
                    <a:lstStyle/>
                    <a:p>
                      <a:pPr>
                        <a:defRPr sz="1000">
                          <a:solidFill>
                            <a:srgbClr val="1E293B"/>
                          </a:solidFill>
                        </a:defRPr>
                      </a:pPr>
                      <a:r>
                        <a:t>Relational Checkpoint Resume</a:t>
                      </a:r>
                    </a:p>
                  </a:txBody>
                  <a:tcPr anchor="ctr">
                    <a:solidFill>
                      <a:srgbClr val="F1F5F9"/>
                    </a:solidFill>
                  </a:tcPr>
                </a:tc>
                <a:tc>
                  <a:txBody>
                    <a:bodyPr/>
                    <a:lstStyle/>
                    <a:p>
                      <a:pPr>
                        <a:defRPr sz="1000">
                          <a:solidFill>
                            <a:srgbClr val="1E293B"/>
                          </a:solidFill>
                        </a:defRPr>
                      </a:pPr>
                      <a:r>
                        <a:t>None (Restart from zero)</a:t>
                      </a:r>
                    </a:p>
                  </a:txBody>
                  <a:tcPr anchor="ctr">
                    <a:solidFill>
                      <a:srgbClr val="F1F5F9"/>
                    </a:solidFill>
                  </a:tcPr>
                </a:tc>
                <a:tc>
                  <a:txBody>
                    <a:bodyPr/>
                    <a:lstStyle/>
                    <a:p>
                      <a:pPr>
                        <a:defRPr sz="1000">
                          <a:solidFill>
                            <a:srgbClr val="1E293B"/>
                          </a:solidFill>
                        </a:defRPr>
                      </a:pPr>
                      <a:r>
                        <a:t>None (Restart from zero)</a:t>
                      </a:r>
                    </a:p>
                  </a:txBody>
                  <a:tcPr anchor="ctr">
                    <a:solidFill>
                      <a:srgbClr val="F1F5F9"/>
                    </a:solidFill>
                  </a:tcPr>
                </a:tc>
                <a:tc>
                  <a:txBody>
                    <a:bodyPr/>
                    <a:lstStyle/>
                    <a:p>
                      <a:pPr>
                        <a:defRPr sz="1000">
                          <a:solidFill>
                            <a:srgbClr val="1E293B"/>
                          </a:solidFill>
                        </a:defRPr>
                      </a:pPr>
                      <a:r>
                        <a:t>None</a:t>
                      </a:r>
                    </a:p>
                  </a:txBody>
                  <a:tcPr anchor="ctr">
                    <a:solidFill>
                      <a:srgbClr val="F1F5F9"/>
                    </a:solidFill>
                  </a:tcPr>
                </a:tc>
              </a:tr>
              <a:tr h="417195">
                <a:tc>
                  <a:txBody>
                    <a:bodyPr/>
                    <a:lstStyle/>
                    <a:p>
                      <a:pPr>
                        <a:defRPr sz="1000" b="1">
                          <a:solidFill>
                            <a:srgbClr val="2563EB"/>
                          </a:solidFill>
                        </a:defRPr>
                      </a:pPr>
                      <a:r>
                        <a:t>Test Code Portability</a:t>
                      </a:r>
                    </a:p>
                  </a:txBody>
                  <a:tcPr anchor="ctr">
                    <a:solidFill>
                      <a:srgbClr val="FFFFFF"/>
                    </a:solidFill>
                  </a:tcPr>
                </a:tc>
                <a:tc>
                  <a:txBody>
                    <a:bodyPr/>
                    <a:lstStyle/>
                    <a:p>
                      <a:pPr>
                        <a:defRPr sz="1000">
                          <a:solidFill>
                            <a:srgbClr val="1E293B"/>
                          </a:solidFill>
                        </a:defRPr>
                      </a:pPr>
                      <a:r>
                        <a:t>Emits Pure Pytest Code</a:t>
                      </a:r>
                    </a:p>
                  </a:txBody>
                  <a:tcPr anchor="ctr">
                    <a:solidFill>
                      <a:srgbClr val="FFFFFF"/>
                    </a:solidFill>
                  </a:tcPr>
                </a:tc>
                <a:tc>
                  <a:txBody>
                    <a:bodyPr/>
                    <a:lstStyle/>
                    <a:p>
                      <a:pPr>
                        <a:defRPr sz="1000">
                          <a:solidFill>
                            <a:srgbClr val="1E293B"/>
                          </a:solidFill>
                        </a:defRPr>
                      </a:pPr>
                      <a:r>
                        <a:t>Custom Java/Python</a:t>
                      </a:r>
                    </a:p>
                  </a:txBody>
                  <a:tcPr anchor="ctr">
                    <a:solidFill>
                      <a:srgbClr val="FFFFFF"/>
                    </a:solidFill>
                  </a:tcPr>
                </a:tc>
                <a:tc>
                  <a:txBody>
                    <a:bodyPr/>
                    <a:lstStyle/>
                    <a:p>
                      <a:pPr>
                        <a:defRPr sz="1000">
                          <a:solidFill>
                            <a:srgbClr val="1E293B"/>
                          </a:solidFill>
                        </a:defRPr>
                      </a:pPr>
                      <a:r>
                        <a:t>Custom JS/TS</a:t>
                      </a:r>
                    </a:p>
                  </a:txBody>
                  <a:tcPr anchor="ctr">
                    <a:solidFill>
                      <a:srgbClr val="FFFFFF"/>
                    </a:solidFill>
                  </a:tcPr>
                </a:tc>
                <a:tc>
                  <a:txBody>
                    <a:bodyPr/>
                    <a:lstStyle/>
                    <a:p>
                      <a:pPr>
                        <a:defRPr sz="1000">
                          <a:solidFill>
                            <a:srgbClr val="1E293B"/>
                          </a:solidFill>
                        </a:defRPr>
                      </a:pPr>
                      <a:r>
                        <a:t>Proprietary Platform Lock-in</a:t>
                      </a:r>
                    </a:p>
                  </a:txBody>
                  <a:tcPr anchor="ctr">
                    <a:solidFill>
                      <a:srgbClr val="FFFFFF"/>
                    </a:solidFill>
                  </a:tcPr>
                </a:tc>
              </a:tr>
            </a:tbl>
          </a:graphicData>
        </a:graphic>
      </p:graphicFrame>
      <p:sp>
        <p:nvSpPr>
          <p:cNvPr id="5" name="TextBox 4"/>
          <p:cNvSpPr txBox="1"/>
          <p:nvPr/>
        </p:nvSpPr>
        <p:spPr>
          <a:xfrm>
            <a:off x="731520" y="4892040"/>
            <a:ext cx="10698480" cy="365760"/>
          </a:xfrm>
          <a:prstGeom prst="rect">
            <a:avLst/>
          </a:prstGeom>
          <a:noFill/>
        </p:spPr>
        <p:txBody>
          <a:bodyPr wrap="none">
            <a:spAutoFit/>
          </a:bodyPr>
          <a:lstStyle/>
          <a:p>
            <a:pPr>
              <a:defRPr sz="950" i="1">
                <a:solidFill>
                  <a:srgbClr val="64748B"/>
                </a:solidFill>
              </a:defRPr>
            </a:pPr>
            <a:r>
              <a:t>ℹ Note: PiOne Testmate delivers the speed of autonomous AI with the deterministic safety and portability of pure Playwright code.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a:spAutoFit/>
          </a:bodyPr>
          <a:lstStyle/>
          <a:p>
            <a:pPr>
              <a:defRPr sz="1000" b="1">
                <a:solidFill>
                  <a:srgbClr val="2563EB"/>
                </a:solidFill>
              </a:defRPr>
            </a:pPr>
            <a:r>
              <a:t>EXECUTIVE BUSINESS CASE &amp; NEXT STEPS</a:t>
            </a:r>
          </a:p>
        </p:txBody>
      </p:sp>
      <p:sp>
        <p:nvSpPr>
          <p:cNvPr id="3" name="TextBox 2"/>
          <p:cNvSpPr txBox="1"/>
          <p:nvPr/>
        </p:nvSpPr>
        <p:spPr>
          <a:xfrm>
            <a:off x="731520" y="621792"/>
            <a:ext cx="10698480" cy="594360"/>
          </a:xfrm>
          <a:prstGeom prst="rect">
            <a:avLst/>
          </a:prstGeom>
          <a:noFill/>
        </p:spPr>
        <p:txBody>
          <a:bodyPr wrap="square">
            <a:spAutoFit/>
          </a:bodyPr>
          <a:lstStyle/>
          <a:p>
            <a:pPr>
              <a:defRPr sz="2100" b="1">
                <a:solidFill>
                  <a:srgbClr val="0F172A"/>
                </a:solidFill>
              </a:defRPr>
            </a:pPr>
            <a:r>
              <a:t>Economic ROI, Deployment Options &amp; Action Plan</a:t>
            </a:r>
          </a:p>
        </p:txBody>
      </p:sp>
      <p:sp>
        <p:nvSpPr>
          <p:cNvPr id="4" name="Rounded Rectangle 3"/>
          <p:cNvSpPr/>
          <p:nvPr/>
        </p:nvSpPr>
        <p:spPr>
          <a:xfrm>
            <a:off x="731520" y="1371600"/>
            <a:ext cx="3438144"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3072384" cy="1920240"/>
          </a:xfrm>
          <a:prstGeom prst="rect">
            <a:avLst/>
          </a:prstGeom>
          <a:noFill/>
        </p:spPr>
        <p:txBody>
          <a:bodyPr wrap="square">
            <a:spAutoFit/>
          </a:bodyPr>
          <a:lstStyle/>
          <a:p>
            <a:pPr>
              <a:defRPr sz="1600" b="1">
                <a:solidFill>
                  <a:srgbClr val="10B981"/>
                </a:solidFill>
              </a:defRPr>
            </a:pPr>
            <a:r>
              <a:t>📈 85% Less Maintenance</a:t>
            </a:r>
          </a:p>
          <a:p>
            <a:pPr>
              <a:spcBef>
                <a:spcPts val="800"/>
              </a:spcBef>
              <a:defRPr sz="1100">
                <a:solidFill>
                  <a:srgbClr val="1E293B"/>
                </a:solidFill>
              </a:defRPr>
            </a:pPr>
            <a:r>
              <a:t>Reclaim hundreds of engineering hours lost to brittle manual selector updates. Autonomous route discovery adapts dynamically as your UI evolves.</a:t>
            </a:r>
          </a:p>
        </p:txBody>
      </p:sp>
      <p:sp>
        <p:nvSpPr>
          <p:cNvPr id="6" name="Rounded Rectangle 5"/>
          <p:cNvSpPr/>
          <p:nvPr/>
        </p:nvSpPr>
        <p:spPr>
          <a:xfrm>
            <a:off x="4370832" y="1371600"/>
            <a:ext cx="3438144"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53712" y="1554480"/>
            <a:ext cx="3072384" cy="1920240"/>
          </a:xfrm>
          <a:prstGeom prst="rect">
            <a:avLst/>
          </a:prstGeom>
          <a:noFill/>
        </p:spPr>
        <p:txBody>
          <a:bodyPr wrap="square">
            <a:spAutoFit/>
          </a:bodyPr>
          <a:lstStyle/>
          <a:p>
            <a:pPr>
              <a:defRPr sz="1600" b="1">
                <a:solidFill>
                  <a:srgbClr val="2563EB"/>
                </a:solidFill>
              </a:defRPr>
            </a:pPr>
            <a:r>
              <a:t>⚡ 10x Test Velocity</a:t>
            </a:r>
          </a:p>
          <a:p>
            <a:pPr>
              <a:spcBef>
                <a:spcPts val="800"/>
              </a:spcBef>
              <a:defRPr sz="1100">
                <a:solidFill>
                  <a:srgbClr val="1E293B"/>
                </a:solidFill>
              </a:defRPr>
            </a:pPr>
            <a:r>
              <a:t>Synthesize complete, production-grade Playwright suites in minutes rather than weeks. Cut QA release cycles from 3 days to under 30 minutes.</a:t>
            </a:r>
          </a:p>
        </p:txBody>
      </p:sp>
      <p:sp>
        <p:nvSpPr>
          <p:cNvPr id="8" name="Rounded Rectangle 7"/>
          <p:cNvSpPr/>
          <p:nvPr/>
        </p:nvSpPr>
        <p:spPr>
          <a:xfrm>
            <a:off x="8010144" y="1371600"/>
            <a:ext cx="3438144"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93024" y="1554480"/>
            <a:ext cx="3072384" cy="1920240"/>
          </a:xfrm>
          <a:prstGeom prst="rect">
            <a:avLst/>
          </a:prstGeom>
          <a:noFill/>
        </p:spPr>
        <p:txBody>
          <a:bodyPr wrap="square">
            <a:spAutoFit/>
          </a:bodyPr>
          <a:lstStyle/>
          <a:p>
            <a:pPr>
              <a:defRPr sz="1600" b="1">
                <a:solidFill>
                  <a:srgbClr val="8B5CF6"/>
                </a:solidFill>
              </a:defRPr>
            </a:pPr>
            <a:r>
              <a:t>🔒 Air-Gapped Deployment</a:t>
            </a:r>
          </a:p>
          <a:p>
            <a:pPr>
              <a:spcBef>
                <a:spcPts val="800"/>
              </a:spcBef>
              <a:defRPr sz="1100">
                <a:solidFill>
                  <a:srgbClr val="1E293B"/>
                </a:solidFill>
              </a:defRPr>
            </a:pPr>
            <a:r>
              <a:t>Deploy in private cloud VPC, Kubernetes, or fully air-gapped on-premise with local Ollama inference. Zero test data or credentials leave your network.</a:t>
            </a:r>
          </a:p>
        </p:txBody>
      </p:sp>
      <p:sp>
        <p:nvSpPr>
          <p:cNvPr id="10" name="Rounded Rectangle 9"/>
          <p:cNvSpPr/>
          <p:nvPr/>
        </p:nvSpPr>
        <p:spPr>
          <a:xfrm>
            <a:off x="731520" y="3931920"/>
            <a:ext cx="10698480" cy="2377440"/>
          </a:xfrm>
          <a:prstGeom prst="roundRect">
            <a:avLst/>
          </a:prstGeom>
          <a:solidFill>
            <a:srgbClr val="0F172A"/>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069080"/>
            <a:ext cx="10332720" cy="2103120"/>
          </a:xfrm>
          <a:prstGeom prst="rect">
            <a:avLst/>
          </a:prstGeom>
          <a:noFill/>
        </p:spPr>
        <p:txBody>
          <a:bodyPr wrap="square">
            <a:spAutoFit/>
          </a:bodyPr>
          <a:lstStyle/>
          <a:p>
            <a:pPr>
              <a:defRPr sz="1300" b="1">
                <a:solidFill>
                  <a:srgbClr val="06B6D4"/>
                </a:solidFill>
              </a:defRPr>
            </a:pPr>
            <a:r>
              <a:t>ACTIONABLE ENTERPRISE PILOT ROADMAP</a:t>
            </a:r>
          </a:p>
          <a:p>
            <a:pPr>
              <a:spcBef>
                <a:spcPts val="600"/>
              </a:spcBef>
              <a:defRPr sz="1050">
                <a:solidFill>
                  <a:srgbClr val="E2E8F0"/>
                </a:solidFill>
              </a:defRPr>
            </a:pPr>
            <a:r>
              <a:t>▶ Phase 1: Day 1 Integration: Deploy PiOne Testmate container in your staging VPC; configure target URLs and verify browser runtime readiness.</a:t>
            </a:r>
          </a:p>
          <a:p>
            <a:pPr>
              <a:spcBef>
                <a:spcPts val="600"/>
              </a:spcBef>
              <a:defRPr sz="1050">
                <a:solidFill>
                  <a:srgbClr val="E2E8F0"/>
                </a:solidFill>
              </a:defRPr>
            </a:pPr>
            <a:r>
              <a:t>▶ Phase 2: Week 1 Pilot Evaluation: Scan 3 representative applications; catalog routes, run passive DAST scans, and generate grounded pytest suites.</a:t>
            </a:r>
          </a:p>
          <a:p>
            <a:pPr>
              <a:spcBef>
                <a:spcPts val="600"/>
              </a:spcBef>
              <a:defRPr sz="1050">
                <a:solidFill>
                  <a:srgbClr val="E2E8F0"/>
                </a:solidFill>
              </a:defRPr>
            </a:pPr>
            <a:r>
              <a:t>▶ Phase 3: Production CI/CD Rollout: Integrate generated JUnit XML and HTML reports into your GitHub Actions / GitLab pipeline for automated gatekeeping.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