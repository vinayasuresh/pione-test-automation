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D0D4-031C-C95E-A151-5F53113D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EBE8E-E2E1-1D74-D13E-6C05A2C9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BBAE-FA59-FFC0-D48D-CD513F77E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EDEC-3698-50D2-3AB7-7C436632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98FB-8639-B0BF-8F9A-CD58953E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2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D636-C6D3-1B1B-270F-73520C13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3684-6BED-333A-D4CB-6DBC9E68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D5BB4-5A5D-F855-A3F1-B19717CB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71E74-5D1E-95BE-40E0-9D1D62CF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DBB9-479E-FA29-81C1-C162AB02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7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16D2-3812-FB5A-F735-4444A9909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A2740-F492-D23E-DF01-E4C8A5741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40C4D-94FB-F4BD-CECB-6B0204FC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9907-BF3E-2955-DBFC-AFBB12F0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E4A6B-C9A4-8B29-EEDF-F3E614B4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0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E1C4-B0FF-8382-96B3-81DF36D7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709C0-B154-88EE-CAFE-9208AF4B3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57D23-630D-3A48-08BC-C98AE5053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FC286-9ABB-B4FC-302F-F32C9834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EC549-3F7D-8615-EEDC-FEAC8926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1AA4A-CBF5-4CD0-F4C2-B7D197BE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45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5BAE-CD18-3BF2-8A20-347BBB73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F28C2-D5A5-4157-27D3-0255D7E95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C3716-5DF6-9B0F-1748-F4D9F738E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D6444-B432-E044-C8E1-7A11C52F5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43D66-2DC1-B94E-810C-59D4ED9DC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9B61B3-AA20-29B4-C99C-E352A8B7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87E89-7A11-37DD-9862-59058EA7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E3699-BCDA-0E2B-27C6-4EB90199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3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5A93-C3B1-7531-86C9-AA6E3A2C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6139-DEE5-6789-370D-0D054D5C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D7AEC-3126-9C3B-7D81-14D593DC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B0DBF-1C39-57B1-199F-D2F49A511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1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17A63-2122-B91A-ED28-FBB64A14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87C47-26CB-8CA0-73A7-A87A6256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A884-70E9-031F-722C-C53519C7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4DB5-0943-752D-F4C1-31DAC394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8D41-C6F1-FB25-3C7F-4AF13B67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42439-04FF-6688-73F2-B61BAED79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AB185-218E-CE7C-49CD-7D7AC74E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D71EC-FD82-C4FD-450C-53825187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BD5FD-6685-4BB4-AACC-BD0C6D36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7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2AFF-CB56-BC1D-1F1A-88449AB4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18054-4100-3914-7E05-A6096F4706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097C8-953F-311F-51A8-993C89CD4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01FF1-3BFD-354F-552B-4BFA4DC6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1E06A-C352-93CB-9E49-59AA6AE7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007A-649D-448E-DB84-74E34E70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8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214D-7ADD-390D-5F50-ED1CA103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48CB0-6490-D8EB-0A33-5E5B52C70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6386C-3303-9FB7-CCC4-659644AA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30773-4294-C758-A3E3-4226B059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D691-4C58-8E36-8EC2-FA594E40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7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FD985-6163-9DEA-8D2E-D13CCDF6E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D3070-C176-5F1C-60C1-ED0552316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380B-4F67-890B-F3C1-0C32AFB0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7399-02E0-0965-1916-E9E1649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50CC-CB61-438A-5015-634DAA5C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6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1FBF1-6971-DC24-D21D-73B42CD7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559E4-9DB2-0DE7-77A7-D92AE0723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154C-CB45-E2BA-7DE6-92FDDF4B5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3FCC7-FBF9-4053-BA43-C26E83DC5B9D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0CDB-85BE-F06B-E8B1-F387FB045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24C91-B416-41BF-3278-FFE3336B3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317BB-B45D-4F92-AFD1-E1920B8AF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3A3DB-AADC-4A68-A460-16882DA825D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508000"/>
            <a:ext cx="4826000" cy="5842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DF6368-E729-A8D2-84C2-FA95D3D02645}"/>
              </a:ext>
            </a:extLst>
          </p:cNvPr>
          <p:cNvSpPr/>
          <p:nvPr/>
        </p:nvSpPr>
        <p:spPr>
          <a:xfrm>
            <a:off x="5842000" y="508000"/>
            <a:ext cx="5715000" cy="58420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31496-1ADD-C447-D2AD-1011C5B10B38}"/>
              </a:ext>
            </a:extLst>
          </p:cNvPr>
          <p:cNvSpPr txBox="1"/>
          <p:nvPr/>
        </p:nvSpPr>
        <p:spPr>
          <a:xfrm>
            <a:off x="6159500" y="762000"/>
            <a:ext cx="508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8BDF8"/>
                </a:solidFill>
                <a:latin typeface="Segoe UI" panose="020B0502040204020203" pitchFamily="34" charset="0"/>
              </a:rPr>
              <a:t>ENTERPRISE QA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CFAAB-9853-F8B8-17DB-5F9CCD35D434}"/>
              </a:ext>
            </a:extLst>
          </p:cNvPr>
          <p:cNvSpPr txBox="1"/>
          <p:nvPr/>
        </p:nvSpPr>
        <p:spPr>
          <a:xfrm>
            <a:off x="6159500" y="1117600"/>
            <a:ext cx="5080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The Enterprise Web QA Dilemma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8C2A8-9D39-0DFB-19AA-E1983CD31C69}"/>
              </a:ext>
            </a:extLst>
          </p:cNvPr>
          <p:cNvSpPr/>
          <p:nvPr/>
        </p:nvSpPr>
        <p:spPr>
          <a:xfrm>
            <a:off x="6159500" y="2222500"/>
            <a:ext cx="5080000" cy="1206500"/>
          </a:xfrm>
          <a:prstGeom prst="rect">
            <a:avLst/>
          </a:prstGeom>
          <a:solidFill>
            <a:srgbClr val="111722"/>
          </a:solidFill>
          <a:ln>
            <a:solidFill>
              <a:srgbClr val="242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EBAA5-7B2D-B18C-1144-1DF9BF6C36D1}"/>
              </a:ext>
            </a:extLst>
          </p:cNvPr>
          <p:cNvSpPr txBox="1"/>
          <p:nvPr/>
        </p:nvSpPr>
        <p:spPr>
          <a:xfrm>
            <a:off x="6350000" y="2349500"/>
            <a:ext cx="4699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Manual Screen Mapping Wastes Time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Teams spend 40% to 50% of test sprint cycles manually mapping routes and hand-authoring repetitive locators.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F4F6C-B869-50CA-E345-AE0B152C6EFC}"/>
              </a:ext>
            </a:extLst>
          </p:cNvPr>
          <p:cNvSpPr/>
          <p:nvPr/>
        </p:nvSpPr>
        <p:spPr>
          <a:xfrm>
            <a:off x="6159500" y="3619500"/>
            <a:ext cx="5080000" cy="1206500"/>
          </a:xfrm>
          <a:prstGeom prst="rect">
            <a:avLst/>
          </a:prstGeom>
          <a:solidFill>
            <a:srgbClr val="111722"/>
          </a:solidFill>
          <a:ln>
            <a:solidFill>
              <a:srgbClr val="242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745EF-F310-448B-3577-6F23BE196BDD}"/>
              </a:ext>
            </a:extLst>
          </p:cNvPr>
          <p:cNvSpPr txBox="1"/>
          <p:nvPr/>
        </p:nvSpPr>
        <p:spPr>
          <a:xfrm>
            <a:off x="6350000" y="3746500"/>
            <a:ext cx="4699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Fragile Locators and Hallucinating Bots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Minor frontend changes break brittle CSS selectors, while unconstrained black-box AI tools invent non-existent UI elements.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EF96-8B39-8B09-F8D9-3834D1FA75C0}"/>
              </a:ext>
            </a:extLst>
          </p:cNvPr>
          <p:cNvSpPr txBox="1"/>
          <p:nvPr/>
        </p:nvSpPr>
        <p:spPr>
          <a:xfrm>
            <a:off x="6159500" y="5080000"/>
            <a:ext cx="508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10B981"/>
                </a:solidFill>
                <a:latin typeface="Segoe UI" panose="020B0502040204020203" pitchFamily="34" charset="0"/>
              </a:rPr>
              <a:t>PiOne Testmate bridges deterministic browser scanning with evidence-grounded AI intelligence.</a:t>
            </a:r>
          </a:p>
        </p:txBody>
      </p:sp>
      <p:pic>
        <p:nvPicPr>
          <p:cNvPr id="12" name="scene1">
            <a:hlinkClick r:id="" action="ppaction://media"/>
            <a:extLst>
              <a:ext uri="{FF2B5EF4-FFF2-40B4-BE49-F238E27FC236}">
                <a16:creationId xmlns:a16="http://schemas.microsoft.com/office/drawing/2014/main" id="{0A4400BD-5A07-6063-B086-734C9CE464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68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33127-9B0B-711C-9EE4-12E2B963F835}"/>
              </a:ext>
            </a:extLst>
          </p:cNvPr>
          <p:cNvSpPr txBox="1"/>
          <p:nvPr/>
        </p:nvSpPr>
        <p:spPr>
          <a:xfrm>
            <a:off x="635000" y="381000"/>
            <a:ext cx="571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AUTONOMOUS DISCOVERY AND EVIDENCE CAPTURE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F2A8C-DCD9-38CB-6DA1-E7B437CE5434}"/>
              </a:ext>
            </a:extLst>
          </p:cNvPr>
          <p:cNvSpPr txBox="1"/>
          <p:nvPr/>
        </p:nvSpPr>
        <p:spPr>
          <a:xfrm>
            <a:off x="635000" y="635000"/>
            <a:ext cx="6350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Scan Authorised Apps and Preserve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8ADA2-A4E5-9C3E-5A81-9E81E2E5FF5F}"/>
              </a:ext>
            </a:extLst>
          </p:cNvPr>
          <p:cNvSpPr txBox="1"/>
          <p:nvPr/>
        </p:nvSpPr>
        <p:spPr>
          <a:xfrm>
            <a:off x="635000" y="1168400"/>
            <a:ext cx="698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Playwright-Powered Bounded Traversal -- Strict SSRF Protection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7DD07-CD34-56D0-54DD-2F56C85E9E22}"/>
              </a:ext>
            </a:extLst>
          </p:cNvPr>
          <p:cNvSpPr/>
          <p:nvPr/>
        </p:nvSpPr>
        <p:spPr>
          <a:xfrm>
            <a:off x="635000" y="1714500"/>
            <a:ext cx="4699000" cy="31115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3234-E83F-61A7-DED8-2D0CADB401C3}"/>
              </a:ext>
            </a:extLst>
          </p:cNvPr>
          <p:cNvSpPr txBox="1"/>
          <p:nvPr/>
        </p:nvSpPr>
        <p:spPr>
          <a:xfrm>
            <a:off x="825500" y="1841500"/>
            <a:ext cx="4318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Deterministic Exploration First: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
- Discovers sidebars, top menus, and navigation trees
- 12-attribute DOM fingerprinting for every target
- Scope-locked to target origin with SSRF protection
- Preserves atomic RunContext and route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FD456D-42D6-6F5E-1277-2E7061C43CD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5016500"/>
            <a:ext cx="1397000" cy="1397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105017-CC66-E00D-6C1F-E7FFABE6D407}"/>
              </a:ext>
            </a:extLst>
          </p:cNvPr>
          <p:cNvSpPr txBox="1"/>
          <p:nvPr/>
        </p:nvSpPr>
        <p:spPr>
          <a:xfrm>
            <a:off x="2159000" y="5461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E1D5CB"/>
                </a:solidFill>
                <a:latin typeface="Segoe UI" panose="020B0502040204020203" pitchFamily="34" charset="0"/>
              </a:rPr>
              <a:t>AI Synthetic Presenter
PiOne Technical Briefing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D89C4E-59CC-CCB1-53AE-43CE5DA659B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714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9C054C-E107-D150-5707-4E6ACD6318A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4127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scene2">
            <a:hlinkClick r:id="" action="ppaction://media"/>
            <a:extLst>
              <a:ext uri="{FF2B5EF4-FFF2-40B4-BE49-F238E27FC236}">
                <a16:creationId xmlns:a16="http://schemas.microsoft.com/office/drawing/2014/main" id="{E64A4F35-F7E8-4435-EC8D-26F9ECD98C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39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9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739A18-EFEC-EB23-3547-6A9F84A6FFEF}"/>
              </a:ext>
            </a:extLst>
          </p:cNvPr>
          <p:cNvSpPr txBox="1"/>
          <p:nvPr/>
        </p:nvSpPr>
        <p:spPr>
          <a:xfrm>
            <a:off x="635000" y="381000"/>
            <a:ext cx="571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GROUNDED AI TEST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8F754-1F9A-B1CA-FCF4-DE41DBDB5984}"/>
              </a:ext>
            </a:extLst>
          </p:cNvPr>
          <p:cNvSpPr txBox="1"/>
          <p:nvPr/>
        </p:nvSpPr>
        <p:spPr>
          <a:xfrm>
            <a:off x="635000" y="635000"/>
            <a:ext cx="6350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100% DOM-Anchored Selectors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14195-1A4C-6813-C968-E07C03AAA430}"/>
              </a:ext>
            </a:extLst>
          </p:cNvPr>
          <p:cNvSpPr txBox="1"/>
          <p:nvPr/>
        </p:nvSpPr>
        <p:spPr>
          <a:xfrm>
            <a:off x="635000" y="1168400"/>
            <a:ext cx="698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Zero Hallucinations -- Multi-Provider Neutral LLM Gateway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8A223-B461-5703-2DB2-946C762DE5AF}"/>
              </a:ext>
            </a:extLst>
          </p:cNvPr>
          <p:cNvSpPr/>
          <p:nvPr/>
        </p:nvSpPr>
        <p:spPr>
          <a:xfrm>
            <a:off x="635000" y="1714500"/>
            <a:ext cx="4699000" cy="31115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ABBBD-AEA9-C58D-0E55-54514FDBA9E1}"/>
              </a:ext>
            </a:extLst>
          </p:cNvPr>
          <p:cNvSpPr txBox="1"/>
          <p:nvPr/>
        </p:nvSpPr>
        <p:spPr>
          <a:xfrm>
            <a:off x="825500" y="1841500"/>
            <a:ext cx="43180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Zero Hallucination Guarantee: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
- Every test step is anchored to real DOM evidence
- Role, CSS selector, and XPath fallback hierarchy
- Shortfall Protection Guard: Explains evidence bounds if fewer safe controls exist instead of inventing tests
- Supports Gemini, Claude, GPT-4o, and local Ollama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7DCDC-21F3-3722-3F90-0073D93D56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5016500"/>
            <a:ext cx="1397000" cy="1397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574601-1A0B-B6A5-4A9B-94ED634981C3}"/>
              </a:ext>
            </a:extLst>
          </p:cNvPr>
          <p:cNvSpPr txBox="1"/>
          <p:nvPr/>
        </p:nvSpPr>
        <p:spPr>
          <a:xfrm>
            <a:off x="2159000" y="5461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E1D5CB"/>
                </a:solidFill>
                <a:latin typeface="Segoe UI" panose="020B0502040204020203" pitchFamily="34" charset="0"/>
              </a:rPr>
              <a:t>AI Synthetic Presenter
PiOne Technical Briefing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101CD1-AC96-F831-647C-83C1F312511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714500"/>
            <a:ext cx="5905500" cy="4318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05ECE9-1309-351E-2B61-4878520C6786}"/>
              </a:ext>
            </a:extLst>
          </p:cNvPr>
          <p:cNvSpPr/>
          <p:nvPr/>
        </p:nvSpPr>
        <p:spPr>
          <a:xfrm>
            <a:off x="6604000" y="6159500"/>
            <a:ext cx="4064000" cy="381000"/>
          </a:xfrm>
          <a:prstGeom prst="rect">
            <a:avLst/>
          </a:prstGeom>
          <a:solidFill>
            <a:srgbClr val="111722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34CFC-C687-1C6C-72C1-95F8210B757A}"/>
              </a:ext>
            </a:extLst>
          </p:cNvPr>
          <p:cNvSpPr txBox="1"/>
          <p:nvPr/>
        </p:nvSpPr>
        <p:spPr>
          <a:xfrm>
            <a:off x="6604000" y="6223000"/>
            <a:ext cx="406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10B981"/>
                </a:solidFill>
                <a:latin typeface="Segoe UI" panose="020B0502040204020203" pitchFamily="34" charset="0"/>
              </a:rPr>
              <a:t>[CONFIRMED] 100% GROUNDED IN REAL DOM CONTROLS</a:t>
            </a:r>
          </a:p>
        </p:txBody>
      </p:sp>
      <p:pic>
        <p:nvPicPr>
          <p:cNvPr id="14" name="scene3">
            <a:hlinkClick r:id="" action="ppaction://media"/>
            <a:extLst>
              <a:ext uri="{FF2B5EF4-FFF2-40B4-BE49-F238E27FC236}">
                <a16:creationId xmlns:a16="http://schemas.microsoft.com/office/drawing/2014/main" id="{3294B7C6-7C7A-1DF7-8559-7F105E0FE0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6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4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F11FA-F3DD-ABA0-7549-AB9347DAB9B7}"/>
              </a:ext>
            </a:extLst>
          </p:cNvPr>
          <p:cNvSpPr txBox="1"/>
          <p:nvPr/>
        </p:nvSpPr>
        <p:spPr>
          <a:xfrm>
            <a:off x="635000" y="381000"/>
            <a:ext cx="571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HUMAN-IN-THE-LOOP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752AC-8408-66EA-F12D-123EB6FDFD5D}"/>
              </a:ext>
            </a:extLst>
          </p:cNvPr>
          <p:cNvSpPr txBox="1"/>
          <p:nvPr/>
        </p:nvSpPr>
        <p:spPr>
          <a:xfrm>
            <a:off x="635000" y="635000"/>
            <a:ext cx="6350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Interactive Checkpoints and Safety Enclaves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CB6C4-BE18-E12F-DFC1-63EA9A3D7C1E}"/>
              </a:ext>
            </a:extLst>
          </p:cNvPr>
          <p:cNvSpPr txBox="1"/>
          <p:nvPr/>
        </p:nvSpPr>
        <p:spPr>
          <a:xfrm>
            <a:off x="635000" y="1168400"/>
            <a:ext cx="698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ActionClassifier Quarantines Risky Verbs -- Supervisory Veto Power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B6CF76-3B46-7EA9-37F9-2738B5F92E05}"/>
              </a:ext>
            </a:extLst>
          </p:cNvPr>
          <p:cNvSpPr/>
          <p:nvPr/>
        </p:nvSpPr>
        <p:spPr>
          <a:xfrm>
            <a:off x="635000" y="1714500"/>
            <a:ext cx="4699000" cy="31115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BF12C-B052-2695-DE85-D59DAB6CDA88}"/>
              </a:ext>
            </a:extLst>
          </p:cNvPr>
          <p:cNvSpPr txBox="1"/>
          <p:nvPr/>
        </p:nvSpPr>
        <p:spPr>
          <a:xfrm>
            <a:off x="825500" y="1841500"/>
            <a:ext cx="43180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Safety and Supervised Control: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
- Safety Parking Lot quarantines destructive verbs (delete, pay, purge, cancel, submit)
- Interactive browser overlays inject checkpoint banner
- Testers select Confirm and Continue or End Scan
- Real-time route graph records manual guidance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1C3BDA-6EBA-80E2-657E-909F09147E3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5016500"/>
            <a:ext cx="1397000" cy="1397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EEE8BD-011B-C643-419E-8F870177085F}"/>
              </a:ext>
            </a:extLst>
          </p:cNvPr>
          <p:cNvSpPr txBox="1"/>
          <p:nvPr/>
        </p:nvSpPr>
        <p:spPr>
          <a:xfrm>
            <a:off x="2159000" y="5461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E1D5CB"/>
                </a:solidFill>
                <a:latin typeface="Segoe UI" panose="020B0502040204020203" pitchFamily="34" charset="0"/>
              </a:rPr>
              <a:t>AI Synthetic Presenter
PiOne Technical Briefing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124F7C-EF0B-4F51-822D-43C74D41898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714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DCC2E-9233-0BE5-C69B-0E0AD53DC23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4127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scene4">
            <a:hlinkClick r:id="" action="ppaction://media"/>
            <a:extLst>
              <a:ext uri="{FF2B5EF4-FFF2-40B4-BE49-F238E27FC236}">
                <a16:creationId xmlns:a16="http://schemas.microsoft.com/office/drawing/2014/main" id="{0A73ED97-5639-543E-3191-FD1A4A5ADF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08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9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CE294F-35CE-5714-5EDA-571702B6A311}"/>
              </a:ext>
            </a:extLst>
          </p:cNvPr>
          <p:cNvSpPr txBox="1"/>
          <p:nvPr/>
        </p:nvSpPr>
        <p:spPr>
          <a:xfrm>
            <a:off x="635000" y="381000"/>
            <a:ext cx="571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CONTROLLED EXECUTION AND AUDIT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F4DC2-1D2F-506F-A5BA-51597CE5F90C}"/>
              </a:ext>
            </a:extLst>
          </p:cNvPr>
          <p:cNvSpPr txBox="1"/>
          <p:nvPr/>
        </p:nvSpPr>
        <p:spPr>
          <a:xfrm>
            <a:off x="635000" y="635000"/>
            <a:ext cx="6350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Live Assertions and 10-Sheet Workbook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F72F9-F5A2-E0C2-2128-2944FCAE924B}"/>
              </a:ext>
            </a:extLst>
          </p:cNvPr>
          <p:cNvSpPr txBox="1"/>
          <p:nvPr/>
        </p:nvSpPr>
        <p:spPr>
          <a:xfrm>
            <a:off x="635000" y="1168400"/>
            <a:ext cx="698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Per-Step Forensic Screenshots -- Tamper-Evident Multi-Format Exports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75B1AA-6D40-C8D3-4B4A-7D4CECB499AB}"/>
              </a:ext>
            </a:extLst>
          </p:cNvPr>
          <p:cNvSpPr/>
          <p:nvPr/>
        </p:nvSpPr>
        <p:spPr>
          <a:xfrm>
            <a:off x="635000" y="1714500"/>
            <a:ext cx="4699000" cy="31115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693C4-4BB6-09C0-5DD1-EBCDFFF22B58}"/>
              </a:ext>
            </a:extLst>
          </p:cNvPr>
          <p:cNvSpPr txBox="1"/>
          <p:nvPr/>
        </p:nvSpPr>
        <p:spPr>
          <a:xfrm>
            <a:off x="825500" y="1841500"/>
            <a:ext cx="43180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Verified Execution and Compliance: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
- 82/82 Steps Passed in Rendered Execution (100% Pass)
- Full-fidelity screenshot captured per assertion
- 10-Sheet audit Excel workbook: working routes, element map, parking lot, execution log
- Golden Baseline freezing for regression comparison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0B4D9C-7485-B732-EB75-CC0D0E71A49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5016500"/>
            <a:ext cx="1397000" cy="1397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6B83C1-D578-1D2F-3959-F6D06336388D}"/>
              </a:ext>
            </a:extLst>
          </p:cNvPr>
          <p:cNvSpPr txBox="1"/>
          <p:nvPr/>
        </p:nvSpPr>
        <p:spPr>
          <a:xfrm>
            <a:off x="2159000" y="5461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E1D5CB"/>
                </a:solidFill>
                <a:latin typeface="Segoe UI" panose="020B0502040204020203" pitchFamily="34" charset="0"/>
              </a:rPr>
              <a:t>AI Synthetic Presenter
PiOne Technical Briefing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B2FA86-C5EA-1ED2-AD79-C811F78524B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714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F76378-A149-2031-E869-6A14370C9D1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4127500"/>
            <a:ext cx="5905500" cy="2222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scene5">
            <a:hlinkClick r:id="" action="ppaction://media"/>
            <a:extLst>
              <a:ext uri="{FF2B5EF4-FFF2-40B4-BE49-F238E27FC236}">
                <a16:creationId xmlns:a16="http://schemas.microsoft.com/office/drawing/2014/main" id="{DB96F38F-07FD-CA74-C3F8-DDAD9B03D3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62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0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F1A90-380F-1C07-31BD-043CCCEFB04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508000"/>
            <a:ext cx="4826000" cy="5842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44B2D8-3155-3EC6-E118-ABD4E1802B57}"/>
              </a:ext>
            </a:extLst>
          </p:cNvPr>
          <p:cNvSpPr/>
          <p:nvPr/>
        </p:nvSpPr>
        <p:spPr>
          <a:xfrm>
            <a:off x="635000" y="508000"/>
            <a:ext cx="5715000" cy="5842000"/>
          </a:xfrm>
          <a:prstGeom prst="rect">
            <a:avLst/>
          </a:prstGeom>
          <a:solidFill>
            <a:srgbClr val="141C2A"/>
          </a:solidFill>
          <a:ln w="12700">
            <a:solidFill>
              <a:srgbClr val="1C2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57FC3-F96B-1622-2D93-0C1DBA129C91}"/>
              </a:ext>
            </a:extLst>
          </p:cNvPr>
          <p:cNvSpPr txBox="1"/>
          <p:nvPr/>
        </p:nvSpPr>
        <p:spPr>
          <a:xfrm>
            <a:off x="952500" y="825500"/>
            <a:ext cx="508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8BDF8"/>
                </a:solidFill>
                <a:latin typeface="Segoe UI" panose="020B0502040204020203" pitchFamily="34" charset="0"/>
              </a:rPr>
              <a:t>THE EVIDENCE-FIRST QA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7FD5F-A69E-3549-530C-42AC338197E6}"/>
              </a:ext>
            </a:extLst>
          </p:cNvPr>
          <p:cNvSpPr txBox="1"/>
          <p:nvPr/>
        </p:nvSpPr>
        <p:spPr>
          <a:xfrm>
            <a:off x="952500" y="12065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PiOne Testmate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D9911-E757-9517-5F8B-505A0444971E}"/>
              </a:ext>
            </a:extLst>
          </p:cNvPr>
          <p:cNvSpPr txBox="1"/>
          <p:nvPr/>
        </p:nvSpPr>
        <p:spPr>
          <a:xfrm>
            <a:off x="952500" y="1879600"/>
            <a:ext cx="508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10B981"/>
                </a:solidFill>
                <a:latin typeface="Segoe UI" panose="020B0502040204020203" pitchFamily="34" charset="0"/>
              </a:rPr>
              <a:t>Evidence-first AI QA for controlled, explainable test automation.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6AB98-080F-DE64-8E94-640AA49AB67B}"/>
              </a:ext>
            </a:extLst>
          </p:cNvPr>
          <p:cNvSpPr txBox="1"/>
          <p:nvPr/>
        </p:nvSpPr>
        <p:spPr>
          <a:xfrm>
            <a:off x="952500" y="2603500"/>
            <a:ext cx="5080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Enterprise Assurance Capabilities:
</a:t>
            </a:r>
            <a:r>
              <a:rPr lang="en-US" sz="1100">
                <a:solidFill>
                  <a:srgbClr val="E1D5CB"/>
                </a:solidFill>
                <a:latin typeface="Segoe UI" panose="020B0502040204020203" pitchFamily="34" charset="0"/>
              </a:rPr>
              <a:t>
- Autonomous Discovery Without Manual Scripts
- Grounded Test Planning Without Hallucinations
- Human-in-the-Loop Checkpoints With Safety Enclaves
- SSRF Protection and Parking Lot Safety
- 10-Sheet Audit-Ready Compliance Workbooks
- Transactional Persistence and Golden Baselines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2C728-A513-85E6-F636-69EEF63BDBD8}"/>
              </a:ext>
            </a:extLst>
          </p:cNvPr>
          <p:cNvSpPr txBox="1"/>
          <p:nvPr/>
        </p:nvSpPr>
        <p:spPr>
          <a:xfrm>
            <a:off x="952500" y="5334000"/>
            <a:ext cx="508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8BDF8"/>
                </a:solidFill>
                <a:latin typeface="Segoe UI" panose="020B0502040204020203" pitchFamily="34" charset="0"/>
              </a:rPr>
              <a:t>Explore the Documentation Hub and Live Demo
PiOne Technologies LLP -- V2 Enterprise Baseline</a:t>
            </a:r>
          </a:p>
        </p:txBody>
      </p:sp>
      <p:pic>
        <p:nvPicPr>
          <p:cNvPr id="10" name="scene6">
            <a:hlinkClick r:id="" action="ppaction://media"/>
            <a:extLst>
              <a:ext uri="{FF2B5EF4-FFF2-40B4-BE49-F238E27FC236}">
                <a16:creationId xmlns:a16="http://schemas.microsoft.com/office/drawing/2014/main" id="{06CEA139-64CA-7FAC-EE2B-BEFBF51ECB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84000" y="127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39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9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Custom</PresentationFormat>
  <Paragraphs>31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Raj</dc:creator>
  <cp:lastModifiedBy>Deepak Raj</cp:lastModifiedBy>
  <cp:revision>1</cp:revision>
  <dcterms:created xsi:type="dcterms:W3CDTF">2026-10-29T06:43:02Z</dcterms:created>
  <dcterms:modified xsi:type="dcterms:W3CDTF">2026-10-29T06:43:02Z</dcterms:modified>
</cp:coreProperties>
</file>