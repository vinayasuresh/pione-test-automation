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1371600"/>
            <a:ext cx="4114800" cy="4114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ENTERPRISE UI AUTOMATION PLATFORM v2.1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011680"/>
            <a:ext cx="100584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600" b="1">
                <a:solidFill>
                  <a:srgbClr val="FFFFFF"/>
                </a:solidFill>
              </a:defRPr>
            </a:pPr>
            <a:r>
              <a:t>PiOne Testmate</a:t>
            </a:r>
          </a:p>
          <a:p>
            <a:pPr>
              <a:defRPr sz="2000">
                <a:solidFill>
                  <a:srgbClr val="06B6D4"/>
                </a:solidFill>
              </a:defRPr>
            </a:pPr>
            <a:r>
              <a:t>Deterministic UI Scanner, Grounded AI Test Planner &amp; Resilient Regression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931920"/>
            <a:ext cx="9144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• 100% Playwright Synchronous Core Engine (No Flaky Selectors)</a:t>
            </a:r>
            <a:br/>
            <a:r>
              <a:t>• Neutral Multi-Provider AI Gateway (Ollama, Gemini, Claude, OpenAI)</a:t>
            </a:r>
            <a:br/>
            <a:r>
              <a:t>• Passive DAST Assessment Mapped to OWASP Top 10 (2021)</a:t>
            </a:r>
            <a:br/>
            <a:r>
              <a:t>• 10-Sheet Audit-Ready Workbooks &amp; In-Place Session Lifecycle Protection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6692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PiOne Technologies LLP • Production Platform Presentation •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EXECUTIVE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B192C"/>
                </a:solidFill>
              </a:defRPr>
            </a:pPr>
            <a:r>
              <a:t>The $3.6M Problem: The 3 Broken Pillars of UI Automation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29184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2926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EF4444"/>
                </a:solidFill>
              </a:defRPr>
            </a:pPr>
            <a:r>
              <a:t>1. Brittle Locators &amp; Flakiness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Traditional suites bind to dynamic CSS or relative XPaths.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Minor styling, wrapper, or Tailwind updates break 40% of test suites.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Teams waste hundreds of hours fixing locators instead of testing product features.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29184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645920"/>
            <a:ext cx="2926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59E0B"/>
                </a:solidFill>
              </a:defRPr>
            </a:pPr>
            <a:r>
              <a:t>2. Ungrounded AI Hallucinations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Raw AI agents attempting to drive web browsers click destructive actions.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Accidental checkouts, data deletions, and credential leaks cause business risk.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AI models hallucinate non-existent element locators, generating false coverage.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29184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645920"/>
            <a:ext cx="2926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563EB"/>
                </a:solidFill>
              </a:defRPr>
            </a:pPr>
            <a:r>
              <a:t>3. Session &amp; State Fragility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In modern SPAs, authentication tokens expire silently during long crawler passes.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A 2-hour end-to-end regression fails completely when a cookie expires.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Legacy tools discard all progress and force engineers to restart from scratch.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ARCHITECTURE PARADIGM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B192C"/>
                </a:solidFill>
              </a:defRPr>
            </a:pPr>
            <a:r>
              <a:t>Core Philosophy: Deterministic Scanner First, AI Second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10058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10332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 b="1">
                <a:solidFill>
                  <a:srgbClr val="2563EB"/>
                </a:solidFill>
              </a:defRPr>
            </a:pPr>
            <a:r>
              <a:t>“Playwright owns browser discovery, DOM analysis, and execution deterministically.</a:t>
            </a:r>
            <a:br/>
            <a:r>
              <a:t>AI models synthesize test logic based strictly on saved evidence—AI never drives the browser directly.”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651760"/>
            <a:ext cx="5120640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47548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B192C"/>
                </a:solidFill>
              </a:defRPr>
            </a:pPr>
            <a:r>
              <a:t>Deterministic Crawler Engine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t>✔ SSRF Guardrails: Rejects RFC 1918, loopbacks, and cloud metadata.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t>✔ Deep Scrolling: Explores document viewports &amp; nested containers.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t>✔ Overlay Engine: Probes menus/dropdowns and cleans up via Escape key.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t>✔ 12-Attribute Fingerprinting: Role &gt; ARIA &gt; Text &gt; CSS &gt; XPath.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t>✔ Destructive Action Parking Lot: Segregates unsafe mutations.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2651760"/>
            <a:ext cx="5120640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834640"/>
            <a:ext cx="47548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B192C"/>
                </a:solidFill>
              </a:defRPr>
            </a:pPr>
            <a:r>
              <a:t>Neutral Multi-Provider AI Gateway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t>✔ 100% Grounded Test Synthesis: References verified DOM IDs only.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t>✔ Multi-Provider Freedom: Ollama, Gemini, Claude, OpenAI, Offline Rules.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t>✔ Requirement Awareness: Ingests user stories, PRDs, and custom prompts.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t>✔ Zero Hallucination Tolerance: Rejects unverified target elements.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t>✔ Controlled Execution: Verifies assertions and captures step screenshots.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STEP 1: SCAN 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B192C"/>
                </a:solidFill>
              </a:defRPr>
            </a:pPr>
            <a:r>
              <a:t>Step 1: Zero-Trust Target Setup &amp; SSRF Protection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46634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2976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B192C"/>
                </a:solidFill>
              </a:defRPr>
            </a:pPr>
            <a:r>
              <a:t>Target Origin Locking with Kernel-Level SSRF Guardrails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</a:defRPr>
            </a:pPr>
            <a:r>
              <a:t>✔ Strict Origin Validation: Locks the crawler to the exact application origin, preventing cross-domain creeping.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</a:defRPr>
            </a:pPr>
            <a:r>
              <a:t>✔ SSRF IP-Level Guard: Automatically blocks RFC 1918 private IPs, loopbacks, and cloud metadata (169.254.169.254).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</a:defRPr>
            </a:pPr>
            <a:r>
              <a:t>✔ Zero Credential Storage: Passwords and tokens are never stored in localStorage, URLs, or checkpoints.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</a:defRPr>
            </a:pPr>
            <a:r>
              <a:t>✔ Segmented Mode Switcher: Toggle between Live Target Scan and 100% Offline Mock/Demo Simulation.</a:t>
            </a:r>
          </a:p>
          <a:p>
            <a:pPr>
              <a:spcBef>
                <a:spcPts val="1400"/>
              </a:spcBef>
              <a:defRPr sz="1100" b="1">
                <a:solidFill>
                  <a:srgbClr val="2563EB"/>
                </a:solidFill>
              </a:defRPr>
            </a:pPr>
            <a:r>
              <a:t>🛡 Enterprise Guarantee: Zero internal network leakage and absolute target isolation.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04688" y="1389888"/>
            <a:ext cx="5998464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1_scan_applic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463040"/>
            <a:ext cx="5852160" cy="4297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577840" y="5806440"/>
            <a:ext cx="5852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64748B"/>
                </a:solidFill>
              </a:defRPr>
            </a:pPr>
            <a:r>
              <a:t>LIVE PRODUCT CAPTURE: STEP 1 DASHBOARD: TARGET URL, PASSWORD REVEAL &amp; MODE CONFIGURATION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STEP 2: CHOOSE MODULES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B192C"/>
                </a:solidFill>
              </a:defRPr>
            </a:pPr>
            <a:r>
              <a:t>Step 2: Autonomous Module Discovery &amp; Boundary Selection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46634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2976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B192C"/>
                </a:solidFill>
              </a:defRPr>
            </a:pPr>
            <a:r>
              <a:t>Automatic Navigation Mapping without Crawling Noise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</a:defRPr>
            </a:pPr>
            <a:r>
              <a:t>✔ Passive Navigation Detection: Automatically extracts top navigation bars, sidebars, and functional modules.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</a:defRPr>
            </a:pPr>
            <a:r>
              <a:t>✔ Granular Scope Selection: Select single, multiple, or all modules (e.g. Inventory and Cart, excluding Admin).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</a:defRPr>
            </a:pPr>
            <a:r>
              <a:t>✔ Dynamic Selection Chips: Real-time visual feedback on selected application boundaries with instant removal.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</a:defRPr>
            </a:pPr>
            <a:r>
              <a:t>✔ Zero Traversal Overrun: Unselected modules and external links are strictly excluded from subsequent crawling.</a:t>
            </a:r>
          </a:p>
          <a:p>
            <a:pPr>
              <a:spcBef>
                <a:spcPts val="1400"/>
              </a:spcBef>
              <a:defRPr sz="1100" b="1">
                <a:solidFill>
                  <a:srgbClr val="2563EB"/>
                </a:solidFill>
              </a:defRPr>
            </a:pPr>
            <a:r>
              <a:t>🛡 Enterprise Guarantee: Scans only what you select; zero wasted crawling cycles.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04688" y="1389888"/>
            <a:ext cx="5998464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2_choose_modu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463040"/>
            <a:ext cx="5852160" cy="4297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577840" y="5806440"/>
            <a:ext cx="5852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64748B"/>
                </a:solidFill>
              </a:defRPr>
            </a:pPr>
            <a:r>
              <a:t>LIVE PRODUCT CAPTURE: STEP 2 DASHBOARD: DISCOVERED APPLICATION MODULES &amp; SCOPE CHECKBOXES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STEP 3: MANUAL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B192C"/>
                </a:solidFill>
              </a:defRPr>
            </a:pPr>
            <a:r>
              <a:t>Step 3: Human-in-the-Loop Safety Governance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46634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2976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B192C"/>
                </a:solidFill>
              </a:defRPr>
            </a:pPr>
            <a:r>
              <a:t>Pre-Crawl Safety Checkpoint &amp; Traversal Verification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</a:defRPr>
            </a:pPr>
            <a:r>
              <a:t>✔ Governance Gate: Provides explicit human review of confirmed module scopes prior to launching Playwright.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</a:defRPr>
            </a:pPr>
            <a:r>
              <a:t>✔ Destructive Action Policy Preview: Outlines how mutations, deletes, and checkouts will be safely diverted.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</a:defRPr>
            </a:pPr>
            <a:r>
              <a:t>✔ Sequential Traversal Assurance: Enforces module-by-module exploration with scroll and state restoration.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</a:defRPr>
            </a:pPr>
            <a:r>
              <a:t>✔ Durable Checkpoint Initialization: Initializes atomic on-disk recovery checkpoints before scanning starts.</a:t>
            </a:r>
          </a:p>
          <a:p>
            <a:pPr>
              <a:spcBef>
                <a:spcPts val="1400"/>
              </a:spcBef>
              <a:defRPr sz="1100" b="1">
                <a:solidFill>
                  <a:srgbClr val="2563EB"/>
                </a:solidFill>
              </a:defRPr>
            </a:pPr>
            <a:r>
              <a:t>🛡 Enterprise Guarantee: No automated crawler launches without explicit operator authorization.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04688" y="1389888"/>
            <a:ext cx="5998464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3_manual_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463040"/>
            <a:ext cx="5852160" cy="4297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577840" y="5806440"/>
            <a:ext cx="5852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64748B"/>
                </a:solidFill>
              </a:defRPr>
            </a:pPr>
            <a:r>
              <a:t>LIVE PRODUCT CAPTURE: STEP 3 DASHBOARD: PRE-CRAWL SCOPE CONFIRMATION &amp; SAFETY GUARDRAILS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STEP 4: CRAWL PROGRESS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B192C"/>
                </a:solidFill>
              </a:defRPr>
            </a:pPr>
            <a:r>
              <a:t>Step 4: Deep Crawling &amp; Live Telemetry Stream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46634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2976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B192C"/>
                </a:solidFill>
              </a:defRPr>
            </a:pPr>
            <a:r>
              <a:t>Real-Time Exploration with Deep Scrolling &amp; Full Telemetry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</a:defRPr>
            </a:pPr>
            <a:r>
              <a:t>✔ Viewport Deep Scanning: Explores document viewports and nested scrollable containers for lazy-loaded items.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</a:defRPr>
            </a:pPr>
            <a:r>
              <a:t>✔ Menu Overlay Probing: Discovers flyouts and dropdowns, restoring page state cleanly via the Escape key.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</a:defRPr>
            </a:pPr>
            <a:r>
              <a:t>✔ Live Telemetry Stream: Real-time gauges for module completion, route progression, and discovered elements.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</a:defRPr>
            </a:pPr>
            <a:r>
              <a:t>✔ Interactive Scan Controls: Real-time Pause, Resume, End &amp; Save, and Discard controls.</a:t>
            </a:r>
          </a:p>
          <a:p>
            <a:pPr>
              <a:spcBef>
                <a:spcPts val="1400"/>
              </a:spcBef>
              <a:defRPr sz="1100" b="1">
                <a:solidFill>
                  <a:srgbClr val="2563EB"/>
                </a:solidFill>
              </a:defRPr>
            </a:pPr>
            <a:r>
              <a:t>🛡 Enterprise Guarantee: Destructive buttons parked with 100% zero-click safety.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04688" y="1389888"/>
            <a:ext cx="5998464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4_crawl_telemet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463040"/>
            <a:ext cx="5852160" cy="4297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577840" y="5806440"/>
            <a:ext cx="5852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64748B"/>
                </a:solidFill>
              </a:defRPr>
            </a:pPr>
            <a:r>
              <a:t>LIVE PRODUCT CAPTURE: STEP 4 DASHBOARD: LIVE MODULE/ROUTE PROGRESS GAUGES &amp; INTERACTIVE CONTROLS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STEP 5: ANALYZE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B192C"/>
                </a:solidFill>
              </a:defRPr>
            </a:pPr>
            <a:r>
              <a:t>Step 5: UI Intelligence Catalog &amp; Route Health Scoring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46634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2976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B192C"/>
                </a:solidFill>
              </a:defRPr>
            </a:pPr>
            <a:r>
              <a:t>12-Attribute Element Fingerprinting &amp; Route Quality Scoring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</a:defRPr>
            </a:pPr>
            <a:r>
              <a:t>✔ Route Health Scoring: Classifies routes as WORKING (&gt;=70), PARTIAL (40-69), or NON-WORKING (&lt;40).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</a:defRPr>
            </a:pPr>
            <a:r>
              <a:t>✔ 12-Attribute Fingerprinting: Registers Role, ARIA, Text, ID, Name, TestIDs, CSS, XPath, and Coordinates.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</a:defRPr>
            </a:pPr>
            <a:r>
              <a:t>✔ Hierarchical Selector Confidence: Resolves elements using Role &gt; ARIA &gt; ID &gt; Text &gt; CSS &gt; XPath.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</a:defRPr>
            </a:pPr>
            <a:r>
              <a:t>✔ Destructive Parking Lot Review: Inspects all blocked actions with screenshot evidence and selector signatures.</a:t>
            </a:r>
          </a:p>
          <a:p>
            <a:pPr>
              <a:spcBef>
                <a:spcPts val="1400"/>
              </a:spcBef>
              <a:defRPr sz="1100" b="1">
                <a:solidFill>
                  <a:srgbClr val="2563EB"/>
                </a:solidFill>
              </a:defRPr>
            </a:pPr>
            <a:r>
              <a:t>🛡 Enterprise Guarantee: Zero flaky locators; tests survive UI redesigns and CSS refactors.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04688" y="1389888"/>
            <a:ext cx="5998464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5_route_health_cata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463040"/>
            <a:ext cx="5852160" cy="4297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577840" y="5806440"/>
            <a:ext cx="5852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64748B"/>
                </a:solidFill>
              </a:defRPr>
            </a:pPr>
            <a:r>
              <a:t>LIVE PRODUCT CAPTURE: STEP 5 DASHBOARD: ROUTE HEALTH SCORING CARDS &amp; SCANNED ROUTES TABLE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STEP 6: SECURITY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B192C"/>
                </a:solidFill>
              </a:defRPr>
            </a:pPr>
            <a:r>
              <a:t>Step 6: Safe Passive DAST &amp; OWASP Top 10 (2021) Mapping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46634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2976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B192C"/>
                </a:solidFill>
              </a:defRPr>
            </a:pPr>
            <a:r>
              <a:t>Authorized, Passive Security Hygiene Assessment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</a:defRPr>
            </a:pPr>
            <a:r>
              <a:t>✔ OWASP Top 10 (2021) Mapping: Categorizes findings into A01 Broken Access, A02 Crypto, A05 Misconfig, etc.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</a:defRPr>
            </a:pPr>
            <a:r>
              <a:t>✔ Security Headers &amp; Cookies: Checks CSP, HSTS, nosniff, Referrer-Policy, HttpOnly, Secure, and SameSite.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</a:defRPr>
            </a:pPr>
            <a:r>
              <a:t>✔ CORS &amp; Exposure Signals: Flags wildcard CORS with credentials, exposed JWTs, API keys, and DB URIs.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</a:defRPr>
            </a:pPr>
            <a:r>
              <a:t>✔ Zero Destructive Actions: Non-intrusive GET requests paced at 1 req/sec; zero brute force or fuzzing.</a:t>
            </a:r>
          </a:p>
          <a:p>
            <a:pPr>
              <a:spcBef>
                <a:spcPts val="1400"/>
              </a:spcBef>
              <a:defRPr sz="1100" b="1">
                <a:solidFill>
                  <a:srgbClr val="2563EB"/>
                </a:solidFill>
              </a:defRPr>
            </a:pPr>
            <a:r>
              <a:t>🛡 Enterprise Guarantee: Multi-format exports in JSON, Markdown, and Excel (.xlsx).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04688" y="1389888"/>
            <a:ext cx="5998464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6_security_assess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463040"/>
            <a:ext cx="5852160" cy="4297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577840" y="5806440"/>
            <a:ext cx="5852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64748B"/>
                </a:solidFill>
              </a:defRPr>
            </a:pPr>
            <a:r>
              <a:t>LIVE PRODUCT CAPTURE: STEP 6 SECURITY PANEL: SEVERITY CARDS, FILTERABLE FINDINGS &amp; EXPORT CONTROLS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STEP 7: GENERATE TESTS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B192C"/>
                </a:solidFill>
              </a:defRPr>
            </a:pPr>
            <a:r>
              <a:t>Step 7: Grounded Multi-Provider AI Test Planning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46634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2976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B192C"/>
                </a:solidFill>
              </a:defRPr>
            </a:pPr>
            <a:r>
              <a:t>Neutral AI Gateway with Verified Element Grounding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</a:defRPr>
            </a:pPr>
            <a:r>
              <a:t>✔ Multi-Provider Freedom: Choose Offline Deterministic, Ollama (Local), Google Gemini, Claude, or OpenAI.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</a:defRPr>
            </a:pPr>
            <a:r>
              <a:t>✔ 100% Grounded Test Steps: Every generated step binds strictly to a verified element ID from Step 5.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</a:defRPr>
            </a:pPr>
            <a:r>
              <a:t>✔ Requirement Document Ingestion: Upload PRDs, user stories (.txt, .md, .csv) to guide test scenario generation.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</a:defRPr>
            </a:pPr>
            <a:r>
              <a:t>✔ Zero Selector Hallucination: Unverified locators are rejected by the normalizer before execution.</a:t>
            </a:r>
          </a:p>
          <a:p>
            <a:pPr>
              <a:spcBef>
                <a:spcPts val="1400"/>
              </a:spcBef>
              <a:defRPr sz="1100" b="1">
                <a:solidFill>
                  <a:srgbClr val="2563EB"/>
                </a:solidFill>
              </a:defRPr>
            </a:pPr>
            <a:r>
              <a:t>🛡 Enterprise Guarantee: Synthesizes complete, executable Pytest scripts automatically.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04688" y="1389888"/>
            <a:ext cx="5998464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7_ai_test_plan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463040"/>
            <a:ext cx="5852160" cy="4297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577840" y="5806440"/>
            <a:ext cx="5852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64748B"/>
                </a:solidFill>
              </a:defRPr>
            </a:pPr>
            <a:r>
              <a:t>LIVE PRODUCT CAPTURE: STEP 7 DASHBOARD: AI PROVIDER SELECTION, CONTEXT INGESTION &amp; GENERATED PLAN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STEP 8: EXECUTE TESTS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B192C"/>
                </a:solidFill>
              </a:defRPr>
            </a:pPr>
            <a:r>
              <a:t>Step 8: Controlled Execution &amp; Per-Step Screenshot Evidence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46634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2976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B192C"/>
                </a:solidFill>
              </a:defRPr>
            </a:pPr>
            <a:r>
              <a:t>Audit-Grade Test Execution with Full Diagnostic Telemetry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</a:defRPr>
            </a:pPr>
            <a:r>
              <a:t>✔ Playwright Test Driver: Executes real browser navigation and assertions with restored authentication state.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</a:defRPr>
            </a:pPr>
            <a:r>
              <a:t>✔ Per-Step Screenshots: Automatically captures full-resolution PNG images for every single action.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</a:defRPr>
            </a:pPr>
            <a:r>
              <a:t>✔ Inline Lightbox Evidence: Click any test step thumbnail to inspect evidence directly in the dashboard.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</a:defRPr>
            </a:pPr>
            <a:r>
              <a:t>✔ Single-Step Rerun: Fast troubleshooting of individual steps without re-executing entire suites.</a:t>
            </a:r>
          </a:p>
          <a:p>
            <a:pPr>
              <a:spcBef>
                <a:spcPts val="1400"/>
              </a:spcBef>
              <a:defRPr sz="1100" b="1">
                <a:solidFill>
                  <a:srgbClr val="2563EB"/>
                </a:solidFill>
              </a:defRPr>
            </a:pPr>
            <a:r>
              <a:t>🛡 Enterprise Guarantee: Exact locator telemetry and console/network failure capture.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04688" y="1389888"/>
            <a:ext cx="5998464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8_controlled_exec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463040"/>
            <a:ext cx="5852160" cy="4297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577840" y="5806440"/>
            <a:ext cx="5852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64748B"/>
                </a:solidFill>
              </a:defRPr>
            </a:pPr>
            <a:r>
              <a:t>LIVE PRODUCT CAPTURE: STEP 8 DASHBOARD: TEST STEP EXECUTION OUTCOMES &amp; EVIDENCE THUMBNAILS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STEP 9: AUDIT REPORTS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B192C"/>
                </a:solidFill>
              </a:defRPr>
            </a:pPr>
            <a:r>
              <a:t>Step 9: Standard 10-Sheet Enterprise Audit-Ready Workbook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46634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2976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B192C"/>
                </a:solidFill>
              </a:defRPr>
            </a:pPr>
            <a:r>
              <a:t>Complete Transparency &amp; Multi-Format Audit Artifacts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</a:defRPr>
            </a:pPr>
            <a:r>
              <a:t>✔ 10-Sheet Excel Architecture: working_routes, partial_routes, non_working_routes, menu_hierarchy, element_map, parking_lot_actions, scan_events, test_cases, execution_results, coverage_gaps.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</a:defRPr>
            </a:pPr>
            <a:r>
              <a:t>✔ Formula Injection Sanitization: Cleans cell values to prevent spreadsheet injection vulnerabilities.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</a:defRPr>
            </a:pPr>
            <a:r>
              <a:t>✔ Multi-Format Packages: Download JSON catalog, YAML schema, Markdown summary, and Screenshots ZIP.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</a:defRPr>
            </a:pPr>
            <a:r>
              <a:t>✔ Reusable Baselines: Save current scan state as a named baseline for regression diff comparisons.</a:t>
            </a:r>
          </a:p>
          <a:p>
            <a:pPr>
              <a:spcBef>
                <a:spcPts val="1400"/>
              </a:spcBef>
              <a:defRPr sz="1100" b="1">
                <a:solidFill>
                  <a:srgbClr val="2563EB"/>
                </a:solidFill>
              </a:defRPr>
            </a:pPr>
            <a:r>
              <a:t>🛡 Enterprise Guarantee: Satisfies both technical QA and enterprise regulatory compliance.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04688" y="1389888"/>
            <a:ext cx="5998464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9_audit_repo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463040"/>
            <a:ext cx="5852160" cy="4297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577840" y="5806440"/>
            <a:ext cx="5852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64748B"/>
                </a:solidFill>
              </a:defRPr>
            </a:pPr>
            <a:r>
              <a:t>LIVE PRODUCT CAPTURE: STEP 9 DASHBOARD: GROUPED REPORT DOWNLOADS &amp; BASELINE MANAGEMENT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PLATFORM MANAGEMENT: SAVED RUNS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B192C"/>
                </a:solidFill>
              </a:defRPr>
            </a:pPr>
            <a:r>
              <a:t>Enterprise Resilience: Saved Runs &amp; Checkpoint Recovery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46634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2976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B192C"/>
                </a:solidFill>
              </a:defRPr>
            </a:pPr>
            <a:r>
              <a:t>Durable SQLite / PostgreSQL Persistence with Zero Data Loss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</a:defRPr>
            </a:pPr>
            <a:r>
              <a:t>✔ Historical Runs Catalog: Displays target URL, run status, progress %, module counts, and timestamps.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</a:defRPr>
            </a:pPr>
            <a:r>
              <a:t>✔ Instant Checkpoint Resumption: Reconnect to interrupted or paused crawls and resume without data loss.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</a:defRPr>
            </a:pPr>
            <a:r>
              <a:t>✔ Run Duplication &amp; Archiving: Clone previous run parameters into a fresh run or archive completed runs.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</a:defRPr>
            </a:pPr>
            <a:r>
              <a:t>✔ In-Place Session Renewal: /session/refresh re-authenticates expired sessions without losing run context.</a:t>
            </a:r>
          </a:p>
          <a:p>
            <a:pPr>
              <a:spcBef>
                <a:spcPts val="1400"/>
              </a:spcBef>
              <a:defRPr sz="1100" b="1">
                <a:solidFill>
                  <a:srgbClr val="2563EB"/>
                </a:solidFill>
              </a:defRPr>
            </a:pPr>
            <a:r>
              <a:t>🛡 Enterprise Guarantee: Eliminates the multi-hour test run crash problem completely.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04688" y="1389888"/>
            <a:ext cx="5998464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10_saved_runs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463040"/>
            <a:ext cx="5852160" cy="4297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577840" y="5806440"/>
            <a:ext cx="5852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64748B"/>
                </a:solidFill>
              </a:defRPr>
            </a:pPr>
            <a:r>
              <a:t>LIVE PRODUCT CAPTURE: SAVED RUNS MANAGEMENT VIEW: HISTORICAL SCANS, METRICS &amp; ACTIONS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PLATFORM MANAGEMENT: REGRESSION SUITES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B192C"/>
                </a:solidFill>
              </a:defRPr>
            </a:pPr>
            <a:r>
              <a:t>Continuous Regression: Named Suites &amp; Replay Diffing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46634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2976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B192C"/>
                </a:solidFill>
              </a:defRPr>
            </a:pPr>
            <a:r>
              <a:t>Selectable Test Execution &amp; Automated Regression Diffing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</a:defRPr>
            </a:pPr>
            <a:r>
              <a:t>✔ Named Regression Suites: Group tests by functional module, release tag, or test environment.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</a:defRPr>
            </a:pPr>
            <a:r>
              <a:t>✔ Selectable Execution: Select specific test cases with an explicit confirmation modal before launching Playwright.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</a:defRPr>
            </a:pPr>
            <a:r>
              <a:t>✔ Typed DELETE Safeguards: Bulk deletion requires typing 'DELETE', eliminating accidental data destruction.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</a:defRPr>
            </a:pPr>
            <a:r>
              <a:t>✔ Baseline Regression Diffing: Calculates status transitions (PASSED -&gt; FAILED), new routes, and selector drift.</a:t>
            </a:r>
          </a:p>
          <a:p>
            <a:pPr>
              <a:spcBef>
                <a:spcPts val="1400"/>
              </a:spcBef>
              <a:defRPr sz="1100" b="1">
                <a:solidFill>
                  <a:srgbClr val="2563EB"/>
                </a:solidFill>
              </a:defRPr>
            </a:pPr>
            <a:r>
              <a:t>🛡 Enterprise Guarantee: Instant visual diff reports for pull requests and CI/CD gates.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04688" y="1389888"/>
            <a:ext cx="5998464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11_regression_sui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463040"/>
            <a:ext cx="5852160" cy="4297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577840" y="5806440"/>
            <a:ext cx="5852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64748B"/>
                </a:solidFill>
              </a:defRPr>
            </a:pPr>
            <a:r>
              <a:t>LIVE PRODUCT CAPTURE: REGRESSION SUITES VIEW: NAMED SUITES, FILTER PILLS &amp; SELECTABLE EXECUTION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ENTERPRISE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B192C"/>
                </a:solidFill>
              </a:defRPr>
            </a:pPr>
            <a:r>
              <a:t>Production Verification Benchmarks &amp; Executive Summary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246888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24688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0B981"/>
                </a:solidFill>
              </a:defRPr>
            </a:pPr>
            <a:r>
              <a:t>167 / 167</a:t>
            </a:r>
          </a:p>
          <a:p>
            <a:pPr algn="ctr">
              <a:defRPr sz="1200">
                <a:solidFill>
                  <a:srgbClr val="1E293B"/>
                </a:solidFill>
              </a:defRPr>
            </a:pPr>
            <a:r>
              <a:t>Pytest Suite Passing (100%)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463040"/>
            <a:ext cx="246888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0" y="1737360"/>
            <a:ext cx="24688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2563EB"/>
                </a:solidFill>
              </a:defRPr>
            </a:pPr>
            <a:r>
              <a:t>0 Flaky Locators</a:t>
            </a:r>
          </a:p>
          <a:p>
            <a:pPr algn="ctr">
              <a:defRPr sz="1200">
                <a:solidFill>
                  <a:srgbClr val="1E293B"/>
                </a:solidFill>
              </a:defRPr>
            </a:pPr>
            <a:r>
              <a:t>12-Attribute Fingerprints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246888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1737360"/>
            <a:ext cx="24688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59E0B"/>
                </a:solidFill>
              </a:defRPr>
            </a:pPr>
            <a:r>
              <a:t>100% Safe</a:t>
            </a:r>
          </a:p>
          <a:p>
            <a:pPr algn="ctr">
              <a:defRPr sz="1200">
                <a:solidFill>
                  <a:srgbClr val="1E293B"/>
                </a:solidFill>
              </a:defRPr>
            </a:pPr>
            <a:r>
              <a:t>Zero Destructive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1463040"/>
            <a:ext cx="246888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0" y="1737360"/>
            <a:ext cx="24688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B192C"/>
                </a:solidFill>
              </a:defRPr>
            </a:pPr>
            <a:r>
              <a:t>10 Sheets</a:t>
            </a:r>
          </a:p>
          <a:p>
            <a:pPr algn="ctr">
              <a:defRPr sz="1200">
                <a:solidFill>
                  <a:srgbClr val="1E293B"/>
                </a:solidFill>
              </a:defRPr>
            </a:pPr>
            <a:r>
              <a:t>Audit-Ready Excel Workbooks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474720"/>
            <a:ext cx="10698480" cy="2834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657600"/>
            <a:ext cx="103327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B192C"/>
                </a:solidFill>
              </a:defRPr>
            </a:pPr>
            <a:r>
              <a:t>Executive Value Summary: Why Enterprises Choose PiOne Testmate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</a:defRPr>
            </a:pPr>
            <a:r>
              <a:t>• 75% Reduction in Test Maintenance: 12-attribute resilient fingerprinting eliminates flaky selector breakdowns.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</a:defRPr>
            </a:pPr>
            <a:r>
              <a:t>• Zero-Risk Safety Architecture: Parking lot action segregation and SSRF IP-level guards protect production data.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</a:defRPr>
            </a:pPr>
            <a:r>
              <a:t>• Session &amp; State Resiliency: In-place session refresh (/session/refresh) and atomic checkpoints guarantee test completion.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</a:defRPr>
            </a:pPr>
            <a:r>
              <a:t>• Neutral AI Economics: Deploy with local open-weights models (Ollama), cloud APIs, or offline rules—zero vendor lock-in.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</a:defRPr>
            </a:pPr>
            <a:r>
              <a:t>• Turnkey Compliance: Standard 10-sheet workbooks, step screenshots, and OWASP Top 10 security reviews satisfy technical and regulatory audits.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