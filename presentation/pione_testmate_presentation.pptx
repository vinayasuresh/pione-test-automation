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645920"/>
            <a:ext cx="384048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ENTERPRISE UI AUTOMATION PLATFORM v2.1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100584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PiOne Testmate</a:t>
            </a:r>
          </a:p>
          <a:p>
            <a:pPr>
              <a:defRPr sz="2000">
                <a:solidFill>
                  <a:srgbClr val="06B6D4"/>
                </a:solidFill>
              </a:defRPr>
            </a:pPr>
            <a:r>
              <a:t>Deterministic UI Crawler, Grounded AI Test Planner &amp; Resilient Regression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11480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BD5E1"/>
                </a:solidFill>
              </a:defRPr>
            </a:pPr>
            <a:r>
              <a:t>Built on Playwright Sync Core • Neutral Multi-Provider AI Gateway • OWASP Top 10 DAST</a:t>
            </a:r>
            <a:br/>
            <a:r>
              <a:t>10-Sheet Audit-Ready Excel Workbooks • In-Place Session Lifecycle Protection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66928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PiOne Technologies LLP • Confidential &amp; Proprietary Technical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The Critical Dilemma in Enterprise UI Testing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F4444"/>
                </a:solidFill>
              </a:defRPr>
            </a:pPr>
            <a:r>
              <a:t>1. Brittle Locators &amp; Flakiness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Traditional test suites rely on fragile CSS classes, relative XPaths, or dynamic attributes.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Minor developer styling or wrapper updates break 40% of automation suites.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Engineers waste dozens of hours updating script locators rather than testing product logic.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</a:defRPr>
            </a:pPr>
            <a:r>
              <a:t>2. Ungrounded AI Hallucination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Unconstrained generative agents attempting to 'click around' execute destructive actions.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Accidental checkout, account deletion, or external redirects cause real business loss.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AI models hallucinate non-existent button selectors, resulting in false test coverage.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563EB"/>
                </a:solidFill>
              </a:defRPr>
            </a:pPr>
            <a:r>
              <a:t>3. Session &amp; State Fragility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In modern token-based Single Page Apps, tokens expire silently during long test runs.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A 2-hour crawl or regression suite fails completely when a cookie expires.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No recovery mechanism existed to renew sessions in-place without restarting from scratch.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ARCHITECTURAL PARADIGM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Core Philosophy: Deterministic Scanner First, AI Second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100584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563EB"/>
                </a:solidFill>
              </a:defRPr>
            </a:pPr>
            <a:r>
              <a:t>“Playwright owns browser discovery, DOM analysis, and execution deterministically.</a:t>
            </a:r>
            <a:br/>
            <a:r>
              <a:t>AI models synthesize test logic based strictly on saved evidence—AI never drives the browser directly.”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26080"/>
            <a:ext cx="512064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B192C"/>
                </a:solidFill>
              </a:defRPr>
            </a:pPr>
            <a:r>
              <a:t>Deterministic Crawler Engine</a:t>
            </a:r>
          </a:p>
          <a:p>
            <a:pPr>
              <a:spcBef>
                <a:spcPts val="600"/>
              </a:spcBef>
              <a:defRPr sz="1300">
                <a:solidFill>
                  <a:srgbClr val="1E293B"/>
                </a:solidFill>
              </a:defRPr>
            </a:pPr>
            <a:r>
              <a:t>✔ SSRF Guardrails: Rejects RFC 1918, loopbacks, and cloud metadata.</a:t>
            </a:r>
          </a:p>
          <a:p>
            <a:pPr>
              <a:spcBef>
                <a:spcPts val="600"/>
              </a:spcBef>
              <a:defRPr sz="1300">
                <a:solidFill>
                  <a:srgbClr val="1E293B"/>
                </a:solidFill>
              </a:defRPr>
            </a:pPr>
            <a:r>
              <a:t>✔ Deep Scrolling: Explores document viewports &amp; nested containers.</a:t>
            </a:r>
          </a:p>
          <a:p>
            <a:pPr>
              <a:spcBef>
                <a:spcPts val="600"/>
              </a:spcBef>
              <a:defRPr sz="1300">
                <a:solidFill>
                  <a:srgbClr val="1E293B"/>
                </a:solidFill>
              </a:defRPr>
            </a:pPr>
            <a:r>
              <a:t>✔ Overlay Engine: Probes menus/dropdowns and cleans up via Escape key.</a:t>
            </a:r>
          </a:p>
          <a:p>
            <a:pPr>
              <a:spcBef>
                <a:spcPts val="600"/>
              </a:spcBef>
              <a:defRPr sz="1300">
                <a:solidFill>
                  <a:srgbClr val="1E293B"/>
                </a:solidFill>
              </a:defRPr>
            </a:pPr>
            <a:r>
              <a:t>✔ 12-Attribute Fingerprinting: Role &gt; ARIA &gt; Text &gt; CSS &gt; XPath.</a:t>
            </a:r>
          </a:p>
          <a:p>
            <a:pPr>
              <a:spcBef>
                <a:spcPts val="600"/>
              </a:spcBef>
              <a:defRPr sz="1300">
                <a:solidFill>
                  <a:srgbClr val="1E293B"/>
                </a:solidFill>
              </a:defRPr>
            </a:pPr>
            <a:r>
              <a:t>✔ Destructive Action Parking Lot: Segregates unsafe mutations.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926080"/>
            <a:ext cx="512064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310896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B192C"/>
                </a:solidFill>
              </a:defRPr>
            </a:pPr>
            <a:r>
              <a:t>Neutral Multi-Provider AI Gateway</a:t>
            </a:r>
          </a:p>
          <a:p>
            <a:pPr>
              <a:spcBef>
                <a:spcPts val="600"/>
              </a:spcBef>
              <a:defRPr sz="1300">
                <a:solidFill>
                  <a:srgbClr val="1E293B"/>
                </a:solidFill>
              </a:defRPr>
            </a:pPr>
            <a:r>
              <a:t>✔ 100% Grounded Test Synthesis: References verified DOM IDs only.</a:t>
            </a:r>
          </a:p>
          <a:p>
            <a:pPr>
              <a:spcBef>
                <a:spcPts val="600"/>
              </a:spcBef>
              <a:defRPr sz="1300">
                <a:solidFill>
                  <a:srgbClr val="1E293B"/>
                </a:solidFill>
              </a:defRPr>
            </a:pPr>
            <a:r>
              <a:t>✔ Multi-Provider Freedom: Ollama, Gemini, Claude, OpenAI, Offline Rules.</a:t>
            </a:r>
          </a:p>
          <a:p>
            <a:pPr>
              <a:spcBef>
                <a:spcPts val="600"/>
              </a:spcBef>
              <a:defRPr sz="1300">
                <a:solidFill>
                  <a:srgbClr val="1E293B"/>
                </a:solidFill>
              </a:defRPr>
            </a:pPr>
            <a:r>
              <a:t>✔ Requirement Awareness: Ingests user stories, PRDs, and custom prompts.</a:t>
            </a:r>
          </a:p>
          <a:p>
            <a:pPr>
              <a:spcBef>
                <a:spcPts val="600"/>
              </a:spcBef>
              <a:defRPr sz="1300">
                <a:solidFill>
                  <a:srgbClr val="1E293B"/>
                </a:solidFill>
              </a:defRPr>
            </a:pPr>
            <a:r>
              <a:t>✔ Zero Hallucination Tolerance: Rejects unverified target elements.</a:t>
            </a:r>
          </a:p>
          <a:p>
            <a:pPr>
              <a:spcBef>
                <a:spcPts val="600"/>
              </a:spcBef>
              <a:defRPr sz="1300">
                <a:solidFill>
                  <a:srgbClr val="1E293B"/>
                </a:solidFill>
              </a:defRPr>
            </a:pPr>
            <a:r>
              <a:t>✔ Controlled Execution: Verifies assertions and captures step screenshots.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WORKFLOW PROGRESSION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The 8-Step Enterprise Test Automation Journey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2194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STEP 1</a:t>
            </a:r>
          </a:p>
          <a:p>
            <a:pPr>
              <a:spcBef>
                <a:spcPts val="200"/>
              </a:spcBef>
              <a:defRPr sz="1500" b="1">
                <a:solidFill>
                  <a:srgbClr val="0B192C"/>
                </a:solidFill>
              </a:defRPr>
            </a:pPr>
            <a:r>
              <a:t>Scan App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SSRF validation, credentials &amp; target origin lock.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645920"/>
            <a:ext cx="24688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783080"/>
            <a:ext cx="2194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STEP 2</a:t>
            </a:r>
          </a:p>
          <a:p>
            <a:pPr>
              <a:spcBef>
                <a:spcPts val="200"/>
              </a:spcBef>
              <a:defRPr sz="1500" b="1">
                <a:solidFill>
                  <a:srgbClr val="0B192C"/>
                </a:solidFill>
              </a:defRPr>
            </a:pPr>
            <a:r>
              <a:t>Choose Modules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Passive menu discovery &amp; boundary selection.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24688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783080"/>
            <a:ext cx="2194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STEP 3</a:t>
            </a:r>
          </a:p>
          <a:p>
            <a:pPr>
              <a:spcBef>
                <a:spcPts val="200"/>
              </a:spcBef>
              <a:defRPr sz="1500" b="1">
                <a:solidFill>
                  <a:srgbClr val="0B192C"/>
                </a:solidFill>
              </a:defRPr>
            </a:pPr>
            <a:r>
              <a:t>Manual Review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Human-in-the-loop safety confirmation gate.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645920"/>
            <a:ext cx="24688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1783080"/>
            <a:ext cx="2194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STEP 4</a:t>
            </a:r>
          </a:p>
          <a:p>
            <a:pPr>
              <a:spcBef>
                <a:spcPts val="200"/>
              </a:spcBef>
              <a:defRPr sz="1500" b="1">
                <a:solidFill>
                  <a:srgbClr val="0B192C"/>
                </a:solidFill>
              </a:defRPr>
            </a:pPr>
            <a:r>
              <a:t>Deep Crawl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Sequential traversal, scrolling &amp; telemetry.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24688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69080"/>
            <a:ext cx="2194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STEP 5</a:t>
            </a:r>
          </a:p>
          <a:p>
            <a:pPr>
              <a:spcBef>
                <a:spcPts val="200"/>
              </a:spcBef>
              <a:defRPr sz="1500" b="1">
                <a:solidFill>
                  <a:srgbClr val="0B192C"/>
                </a:solidFill>
              </a:defRPr>
            </a:pPr>
            <a:r>
              <a:t>Analyze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UI Intelligence catalog &amp; route health scoring.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3931920"/>
            <a:ext cx="24688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4069080"/>
            <a:ext cx="2194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STEP 6</a:t>
            </a:r>
          </a:p>
          <a:p>
            <a:pPr>
              <a:spcBef>
                <a:spcPts val="200"/>
              </a:spcBef>
              <a:defRPr sz="1500" b="1">
                <a:solidFill>
                  <a:srgbClr val="0B192C"/>
                </a:solidFill>
              </a:defRPr>
            </a:pPr>
            <a:r>
              <a:t>Security Review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Passive DAST checks mapped to OWASP Top 10.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931920"/>
            <a:ext cx="24688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4069080"/>
            <a:ext cx="2194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STEP 7</a:t>
            </a:r>
          </a:p>
          <a:p>
            <a:pPr>
              <a:spcBef>
                <a:spcPts val="200"/>
              </a:spcBef>
              <a:defRPr sz="1500" b="1">
                <a:solidFill>
                  <a:srgbClr val="0B192C"/>
                </a:solidFill>
              </a:defRPr>
            </a:pPr>
            <a:r>
              <a:t>Generate Tests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Multi-provider AI test planning gateway.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3931920"/>
            <a:ext cx="24688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4069080"/>
            <a:ext cx="2194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STEP 8</a:t>
            </a:r>
          </a:p>
          <a:p>
            <a:pPr>
              <a:spcBef>
                <a:spcPts val="200"/>
              </a:spcBef>
              <a:defRPr sz="1500" b="1">
                <a:solidFill>
                  <a:srgbClr val="0B192C"/>
                </a:solidFill>
              </a:defRPr>
            </a:pPr>
            <a:r>
              <a:t>Execute &amp; Audit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Controlled Playwright test run &amp; 10-sheet Excel.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STEP 4 &amp; 5 CORE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Deterministic Deep Crawling &amp; Destructive Action Parking Lot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B192C"/>
                </a:solidFill>
              </a:defRPr>
            </a:pPr>
            <a:r>
              <a:t>Deep Exploration Capabilities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</a:defRPr>
            </a:pPr>
            <a:r>
              <a:t>• Viewport Deep Scanner: Progressively scrolls full page and nested overflow containers to trigger lazy-loaded elements.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</a:defRPr>
            </a:pPr>
            <a:r>
              <a:t>• Menu Overlay Engine: Opens sidebars, dropdowns, and context menus, inspects items, and dismisses cleanly via Escape key.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</a:defRPr>
            </a:pPr>
            <a:r>
              <a:t>• Sequential Module Traversal: Explores one module at a time, restoring scroll positions and isolating test states.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</a:defRPr>
            </a:pPr>
            <a:r>
              <a:t>• Atomic Checkpointing: Writes durable checkpoint before and after every route, preventing data loss on crash or pause.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F4444"/>
                </a:solidFill>
              </a:defRPr>
            </a:pPr>
            <a:r>
              <a:t>Destructive Action Parking Lot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</a:defRPr>
            </a:pPr>
            <a:r>
              <a:t>🛡 Strict Classification: Matches high-risk verbs (Delete, Remove, Destroy, Terminate, Purchase, Pay, Reset, Cancel).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</a:defRPr>
            </a:pPr>
            <a:r>
              <a:t>🛡 Zero-Click Guarantee: The autonomous crawler NEVER clicks parked actions during scanning.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</a:defRPr>
            </a:pPr>
            <a:r>
              <a:t>🛡 Reviewable Catalog: Parked actions are recorded with screenshot evidence, selector signatures, and exclusion rationales.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</a:defRPr>
            </a:pPr>
            <a:r>
              <a:t>🛡 Human Confirmation: Actions remain locked until explicit manual human authorization is granted.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STEP 5 ANALYSIS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UI Intelligence Catalog &amp; 12-Attribute DOM Fingerprinting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62179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852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B192C"/>
                </a:solidFill>
              </a:defRPr>
            </a:pPr>
            <a:r>
              <a:t>12-Attribute Resilient Element Registry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✔ 1. Deterministic Element ID (SHA-256 fingerprint)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✔ 2. HTML Tag Name (button, input, select, a)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✔ 3. WAI-ARIA Role (button, textbox, combobox)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✔ 4. Accessible Name &amp; Visible Text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✔ 5. Unique ID Attribute &amp; Name Attribute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✔ 6. Test Attributes (data-testid, data-cy, qa-id)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✔ 7. Resilient CSS Selector &amp; Scored XPath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✔ 8. Bounding Box Dimensions (x, y, width, height)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✔ 9. Visibility State &amp; Container Hierarchy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✔ 10. Selector Confidence Score (1-100)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645920"/>
            <a:ext cx="411480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1828800"/>
            <a:ext cx="374903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B192C"/>
                </a:solidFill>
              </a:defRPr>
            </a:pPr>
            <a:r>
              <a:t>Route Health Classification</a:t>
            </a:r>
          </a:p>
          <a:p>
            <a:pPr>
              <a:spcBef>
                <a:spcPts val="1000"/>
              </a:spcBef>
              <a:defRPr sz="1400" b="1">
                <a:solidFill>
                  <a:srgbClr val="10B981"/>
                </a:solidFill>
              </a:defRPr>
            </a:pPr>
            <a:r>
              <a:t>WORKING (Score &gt;= 70)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</a:defRPr>
            </a:pPr>
            <a:r>
              <a:t>High DOM stability, responsive interactions, zero console errors, full element accessibility.</a:t>
            </a:r>
          </a:p>
          <a:p>
            <a:pPr>
              <a:spcBef>
                <a:spcPts val="1000"/>
              </a:spcBef>
              <a:defRPr sz="1400" b="1">
                <a:solidFill>
                  <a:srgbClr val="F59E0B"/>
                </a:solidFill>
              </a:defRPr>
            </a:pPr>
            <a:r>
              <a:t>PARTIAL (Score 40-69)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</a:defRPr>
            </a:pPr>
            <a:r>
              <a:t>Minor interaction warnings, slow API responses, or benign redirects.</a:t>
            </a:r>
          </a:p>
          <a:p>
            <a:pPr>
              <a:spcBef>
                <a:spcPts val="1000"/>
              </a:spcBef>
              <a:defRPr sz="1400" b="1">
                <a:solidFill>
                  <a:srgbClr val="EF4444"/>
                </a:solidFill>
              </a:defRPr>
            </a:pPr>
            <a:r>
              <a:t>NON-WORKING (Score &lt; 40)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</a:defRPr>
            </a:pPr>
            <a:r>
              <a:t>Blank screens, 4xx/5xx HTTP errors, fatal JS exceptions, or broken navigation.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PASSIVE DAST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Safe Basic Security Scan &amp; OWASP Top 10 (2021) Mapping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563EB"/>
                </a:solidFill>
              </a:defRPr>
            </a:pPr>
            <a:r>
              <a:t>Authorized, Low-Impact Assessment — Zero Destructive Probing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• Security Headers (A05:2021): Verifies CSP (frame-ancestors), HSTS, X-Content-Type-Options: nosniff, Referrer-Policy, and Permissions-Policy.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• Cookie Security Flags (A07:2021): Validates Secure, HttpOnly, and SameSite attributes on all Set-Cookie headers.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• Mixed Content Detection (A02:2021): Identifies unencrypted HTTP assets, scripts, or form submissions on HTTPS pages.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• CORS Misconfiguration (A05:2021): Flags wildcard Access-Control-Allow-Origin with credentials or reflected probe origins.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• Sensitive Data Disclosure (A02/A05): Detects exposed private keys, AWS/GitHub tokens, JWTs in bodies, database strings, and source maps.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• Error Disclosure (A05:2021): Catches verbose stack traces, server exception dumps, and debug toolbars in responses.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• Authorization Boundaries (A01:2021): Observes whether protected routes return 200 without valid authentication tokens.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• Inert Reflection Canary (A03:2021): Injects safe alphanumeric marker (pione_&lt;uuid&gt;) to test output encoding without exploit payloads.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STEP 7 TEST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Grounded Multi-Provider AI Test Planning Gateway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9659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783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293B"/>
                </a:solidFill>
              </a:defRPr>
            </a:pPr>
            <a:r>
              <a:t>Deterministic</a:t>
            </a:r>
          </a:p>
          <a:p>
            <a:pPr>
              <a:spcBef>
                <a:spcPts val="200"/>
              </a:spcBef>
              <a:defRPr sz="1100" b="1">
                <a:solidFill>
                  <a:srgbClr val="64748B"/>
                </a:solidFill>
              </a:defRPr>
            </a:pPr>
            <a:r>
              <a:t>100% Offline Rule Engine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Zero cloud tokens or costs. Synthesizes standard functional navigation &amp; element assertion tests deterministically.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1645920"/>
            <a:ext cx="19659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71800" y="1783080"/>
            <a:ext cx="1783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Ollama</a:t>
            </a:r>
          </a:p>
          <a:p>
            <a:pPr>
              <a:spcBef>
                <a:spcPts val="200"/>
              </a:spcBef>
              <a:defRPr sz="1100" b="1">
                <a:solidFill>
                  <a:srgbClr val="64748B"/>
                </a:solidFill>
              </a:defRPr>
            </a:pPr>
            <a:r>
              <a:t>Local Open-Weights Models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Local inference via Llama 3, Mistral, Qwen 2.5 Coder. 100% data confidentiality for air-gapped environments.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645920"/>
            <a:ext cx="19659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0" y="1783080"/>
            <a:ext cx="1783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6B6D4"/>
                </a:solidFill>
              </a:defRPr>
            </a:pPr>
            <a:r>
              <a:t>Google Gemini</a:t>
            </a:r>
          </a:p>
          <a:p>
            <a:pPr>
              <a:spcBef>
                <a:spcPts val="200"/>
              </a:spcBef>
              <a:defRPr sz="1100" b="1">
                <a:solidFill>
                  <a:srgbClr val="64748B"/>
                </a:solidFill>
              </a:defRPr>
            </a:pPr>
            <a:r>
              <a:t>Gemini Pro &amp; Flash API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High-speed multimodal understanding with structured output schema enforcement.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78040" y="1645920"/>
            <a:ext cx="19659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0" y="1783080"/>
            <a:ext cx="1783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Anthropic Claude</a:t>
            </a:r>
          </a:p>
          <a:p>
            <a:pPr>
              <a:spcBef>
                <a:spcPts val="200"/>
              </a:spcBef>
              <a:defRPr sz="1100" b="1">
                <a:solidFill>
                  <a:srgbClr val="64748B"/>
                </a:solidFill>
              </a:defRPr>
            </a:pPr>
            <a:r>
              <a:t>Claude 3.5 Sonnet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Deep reasoning for complex multi-step user scenarios and edge case generation.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0" y="1645920"/>
            <a:ext cx="19659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0" y="1783080"/>
            <a:ext cx="1783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OpenAI</a:t>
            </a:r>
          </a:p>
          <a:p>
            <a:pPr>
              <a:spcBef>
                <a:spcPts val="200"/>
              </a:spcBef>
              <a:defRPr sz="1100" b="1">
                <a:solidFill>
                  <a:srgbClr val="64748B"/>
                </a:solidFill>
              </a:defRPr>
            </a:pPr>
            <a:r>
              <a:t>GPT-4o &amp; GPT-4o-mini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Robust test scenario generation with JSON schema validation and persona simulation.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STEP 8 TEST RUNNER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Controlled Test Execution &amp; Per-Step Screenshot Evidence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B192C"/>
                </a:solidFill>
              </a:defRPr>
            </a:pPr>
            <a:r>
              <a:t>Audit-Grade Execution Telemetry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</a:defRPr>
            </a:pPr>
            <a:r>
              <a:t>✔ Playwright Execution Engine: Drives real browser contexts with restored authenticated session state.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</a:defRPr>
            </a:pPr>
            <a:r>
              <a:t>✔ Locator Fallback Hierarchy: Executes tests using Role -&gt; ARIA -&gt; Text -&gt; CSS -&gt; XPath.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</a:defRPr>
            </a:pPr>
            <a:r>
              <a:t>✔ Per-Step Locator Recording: Logs the exact selector engine that satisfied the step.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</a:defRPr>
            </a:pPr>
            <a:r>
              <a:t>✔ Single-Step Rerun: Fast troubleshooting of individual steps without re-executing entire regression suite.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B192C"/>
                </a:solidFill>
              </a:defRPr>
            </a:pPr>
            <a:r>
              <a:t>Evidence &amp; Diagnostic Capture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</a:defRPr>
            </a:pPr>
            <a:r>
              <a:t>✔ Per-Step Screenshots: Automatically captures full-resolution PNG images ({tc_id}_{step_id}.png).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</a:defRPr>
            </a:pPr>
            <a:r>
              <a:t>✔ Inline Evidence Modal: Click any test step thumbnail in the dashboard to review screenshot evidence.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</a:defRPr>
            </a:pPr>
            <a:r>
              <a:t>✔ Console Log Ingestion: Captures uncaught JavaScript errors, warnings, and unhandled promise rejections.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</a:defRPr>
            </a:pPr>
            <a:r>
              <a:t>✔ Network Failure Telemetry: Correlates failing steps with failed HTTP requests (4xx, 5xx, or network drops).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REPORTING &amp;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Standard 10-Sheet Enterprise Audit-Ready Workbook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Audit-Ready .XLSX Architecture with Frozen Panes &amp; Formula Sanitization</a:t>
            </a:r>
          </a:p>
          <a:p>
            <a:pPr>
              <a:spcBef>
                <a:spcPts val="300"/>
              </a:spcBef>
              <a:defRPr sz="1150">
                <a:solidFill>
                  <a:srgbClr val="1E293B"/>
                </a:solidFill>
              </a:defRPr>
            </a:pPr>
            <a:r>
              <a:t>• 1. working_routes: Routes with health score &gt;= 70, verified DOM stability, and 0 console errors.</a:t>
            </a:r>
          </a:p>
          <a:p>
            <a:pPr>
              <a:spcBef>
                <a:spcPts val="300"/>
              </a:spcBef>
              <a:defRPr sz="1150">
                <a:solidFill>
                  <a:srgbClr val="1E293B"/>
                </a:solidFill>
              </a:defRPr>
            </a:pPr>
            <a:r>
              <a:t>• 2. partial_routes: Routes with score 40-69, minor performance warnings, or benign redirects.</a:t>
            </a:r>
          </a:p>
          <a:p>
            <a:pPr>
              <a:spcBef>
                <a:spcPts val="300"/>
              </a:spcBef>
              <a:defRPr sz="1150">
                <a:solidFill>
                  <a:srgbClr val="1E293B"/>
                </a:solidFill>
              </a:defRPr>
            </a:pPr>
            <a:r>
              <a:t>• 3. non_working_routes: Routes with score &lt; 40, blank screens, 4xx/5xx HTTP errors, or fatal JS faults.</a:t>
            </a:r>
          </a:p>
          <a:p>
            <a:pPr>
              <a:spcBef>
                <a:spcPts val="300"/>
              </a:spcBef>
              <a:defRPr sz="1150">
                <a:solidFill>
                  <a:srgbClr val="1E293B"/>
                </a:solidFill>
              </a:defRPr>
            </a:pPr>
            <a:r>
              <a:t>• 4. menu_hierarchy: Complete hierarchical site structure, module trees, and parent-child routes.</a:t>
            </a:r>
          </a:p>
          <a:p>
            <a:pPr>
              <a:spcBef>
                <a:spcPts val="300"/>
              </a:spcBef>
              <a:defRPr sz="1150">
                <a:solidFill>
                  <a:srgbClr val="1E293B"/>
                </a:solidFill>
              </a:defRPr>
            </a:pPr>
            <a:r>
              <a:t>• 5. element_map: Full 12-attribute interactive element inventory with selector quality scoring.</a:t>
            </a:r>
          </a:p>
          <a:p>
            <a:pPr>
              <a:spcBef>
                <a:spcPts val="300"/>
              </a:spcBef>
              <a:defRPr sz="1150">
                <a:solidFill>
                  <a:srgbClr val="1E293B"/>
                </a:solidFill>
              </a:defRPr>
            </a:pPr>
            <a:r>
              <a:t>• 6. parking_lot_actions: Segregated destructive buttons requiring human authorization prior to execution.</a:t>
            </a:r>
          </a:p>
          <a:p>
            <a:pPr>
              <a:spcBef>
                <a:spcPts val="300"/>
              </a:spcBef>
              <a:defRPr sz="1150">
                <a:solidFill>
                  <a:srgbClr val="1E293B"/>
                </a:solidFill>
              </a:defRPr>
            </a:pPr>
            <a:r>
              <a:t>• 7. scan_events: Deterministic, timestamped event log of every crawler and interaction transition.</a:t>
            </a:r>
          </a:p>
          <a:p>
            <a:pPr>
              <a:spcBef>
                <a:spcPts val="300"/>
              </a:spcBef>
              <a:defRPr sz="1150">
                <a:solidFill>
                  <a:srgbClr val="1E293B"/>
                </a:solidFill>
              </a:defRPr>
            </a:pPr>
            <a:r>
              <a:t>• 8. test_cases: Generated test specifications, scenario descriptions, tags, and step sequences.</a:t>
            </a:r>
          </a:p>
          <a:p>
            <a:pPr>
              <a:spcBef>
                <a:spcPts val="300"/>
              </a:spcBef>
              <a:defRPr sz="1150">
                <a:solidFill>
                  <a:srgbClr val="1E293B"/>
                </a:solidFill>
              </a:defRPr>
            </a:pPr>
            <a:r>
              <a:t>• 9. execution_results: Execution outcomes, locators used, error logs, and screenshot links.</a:t>
            </a:r>
          </a:p>
          <a:p>
            <a:pPr>
              <a:spcBef>
                <a:spcPts val="300"/>
              </a:spcBef>
              <a:defRPr sz="1150">
                <a:solidFill>
                  <a:srgbClr val="1E293B"/>
                </a:solidFill>
              </a:defRPr>
            </a:pPr>
            <a:r>
              <a:t>• 10. coverage_gaps: Uncovered user requirements, missing elements, and deferred test paths.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ENTERPRISE SESSION RESILIENCY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In-Place Session Lifecycle Protection (/session/refresh)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Solving the 2-Hour Test Run Expiry Problem</a:t>
            </a:r>
          </a:p>
          <a:p>
            <a:pPr>
              <a:spcBef>
                <a:spcPts val="1000"/>
              </a:spcBef>
              <a:defRPr sz="1350">
                <a:solidFill>
                  <a:srgbClr val="1E293B"/>
                </a:solidFill>
              </a:defRPr>
            </a:pPr>
            <a:r>
              <a:t>✔ Proactive Expiry Detection: Monitors token validity and detects login redirects or visible password fields.</a:t>
            </a:r>
          </a:p>
          <a:p>
            <a:pPr>
              <a:spcBef>
                <a:spcPts val="1000"/>
              </a:spcBef>
              <a:defRPr sz="1350">
                <a:solidFill>
                  <a:srgbClr val="1E293B"/>
                </a:solidFill>
              </a:defRPr>
            </a:pPr>
            <a:r>
              <a:t>✔ Zero Data Loss Guarantee: When a session expires, the run status pauses—it is NEVER discarded.</a:t>
            </a:r>
          </a:p>
          <a:p>
            <a:pPr>
              <a:spcBef>
                <a:spcPts val="1000"/>
              </a:spcBef>
              <a:defRPr sz="1350">
                <a:solidFill>
                  <a:srgbClr val="1E293B"/>
                </a:solidFill>
              </a:defRPr>
            </a:pPr>
            <a:r>
              <a:t>✔ In-Place Refresh Modal: The UI prompts the user to re-enter credentials in a non-blocking modal dialog.</a:t>
            </a:r>
          </a:p>
          <a:p>
            <a:pPr>
              <a:spcBef>
                <a:spcPts val="1000"/>
              </a:spcBef>
              <a:defRPr sz="1350">
                <a:solidFill>
                  <a:srgbClr val="1E293B"/>
                </a:solidFill>
              </a:defRPr>
            </a:pPr>
            <a:r>
              <a:t>✔ Run Context Continuity: The server updates the opaque server-side storage state and binds it to the exact same Run ID.</a:t>
            </a:r>
          </a:p>
          <a:p>
            <a:pPr>
              <a:spcBef>
                <a:spcPts val="1000"/>
              </a:spcBef>
              <a:defRPr sz="1350">
                <a:solidFill>
                  <a:srgbClr val="1E293B"/>
                </a:solidFill>
              </a:defRPr>
            </a:pPr>
            <a:r>
              <a:t>✔ Seamless Traversal Resume: The crawler or regression suite resumes from the active checkpoint without restarting.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VERIFICATION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Production Verification Benchmarks &amp; 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24688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167 / 167</a:t>
            </a:r>
          </a:p>
          <a:p>
            <a:pPr algn="ctr">
              <a:defRPr sz="1200">
                <a:solidFill>
                  <a:srgbClr val="1E293B"/>
                </a:solidFill>
              </a:defRPr>
            </a:pPr>
            <a:r>
              <a:t>Pytest Suite Passing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46888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920240"/>
            <a:ext cx="24688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2563EB"/>
                </a:solidFill>
              </a:defRPr>
            </a:pPr>
            <a:r>
              <a:t>0 Flaky Locators</a:t>
            </a:r>
          </a:p>
          <a:p>
            <a:pPr algn="ctr">
              <a:defRPr sz="1200">
                <a:solidFill>
                  <a:srgbClr val="1E293B"/>
                </a:solidFill>
              </a:defRPr>
            </a:pPr>
            <a:r>
              <a:t>12-Attribute DOM Fingerprints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246888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920240"/>
            <a:ext cx="24688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59E0B"/>
                </a:solidFill>
              </a:defRPr>
            </a:pPr>
            <a:r>
              <a:t>100% Safe</a:t>
            </a:r>
          </a:p>
          <a:p>
            <a:pPr algn="ctr">
              <a:defRPr sz="1200">
                <a:solidFill>
                  <a:srgbClr val="1E293B"/>
                </a:solidFill>
              </a:defRPr>
            </a:pPr>
            <a:r>
              <a:t>Zero Destructive Actions Clicked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645920"/>
            <a:ext cx="246888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1920240"/>
            <a:ext cx="24688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B192C"/>
                </a:solidFill>
              </a:defRPr>
            </a:pPr>
            <a:r>
              <a:t>10 Sheets</a:t>
            </a:r>
          </a:p>
          <a:p>
            <a:pPr algn="ctr">
              <a:defRPr sz="1200">
                <a:solidFill>
                  <a:srgbClr val="1E293B"/>
                </a:solidFill>
              </a:defRPr>
            </a:pPr>
            <a:r>
              <a:t>Audit-Ready Excel Workbooks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57600"/>
            <a:ext cx="1069848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4048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B192C"/>
                </a:solidFill>
              </a:defRPr>
            </a:pPr>
            <a:r>
              <a:t>Summary: Enterprise UI Intelligence Ready for Scale</a:t>
            </a:r>
          </a:p>
          <a:p>
            <a:pPr>
              <a:spcBef>
                <a:spcPts val="400"/>
              </a:spcBef>
              <a:defRPr sz="1250">
                <a:solidFill>
                  <a:srgbClr val="1E293B"/>
                </a:solidFill>
              </a:defRPr>
            </a:pPr>
            <a:r>
              <a:t>• Deterministic Grounding: Playwright provides rock-solid UI discovery and execution; AI provides intelligent scenario planning.</a:t>
            </a:r>
          </a:p>
          <a:p>
            <a:pPr>
              <a:spcBef>
                <a:spcPts val="400"/>
              </a:spcBef>
              <a:defRPr sz="1250">
                <a:solidFill>
                  <a:srgbClr val="1E293B"/>
                </a:solidFill>
              </a:defRPr>
            </a:pPr>
            <a:r>
              <a:t>• Enterprise Governance: Parking lot safety policies, SSRF IP-level guardrails, and typed DELETE safeguards eliminate business risk.</a:t>
            </a:r>
          </a:p>
          <a:p>
            <a:pPr>
              <a:spcBef>
                <a:spcPts val="400"/>
              </a:spcBef>
              <a:defRPr sz="1250">
                <a:solidFill>
                  <a:srgbClr val="1E293B"/>
                </a:solidFill>
              </a:defRPr>
            </a:pPr>
            <a:r>
              <a:t>• Lifecycle Resiliency: Checkpoints, resumable runs, and in-place session refresh ensure tests complete reliably.</a:t>
            </a:r>
          </a:p>
          <a:p>
            <a:pPr>
              <a:spcBef>
                <a:spcPts val="400"/>
              </a:spcBef>
              <a:defRPr sz="1250">
                <a:solidFill>
                  <a:srgbClr val="1E293B"/>
                </a:solidFill>
              </a:defRPr>
            </a:pPr>
            <a:r>
              <a:t>• Turnkey Compliance: Multi-format exports and 10-sheet workbooks satisfy both technical QA and regulatory audit requirements.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